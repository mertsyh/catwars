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Gelir ($ Milyar, 2025)</c:v>
                </c:pt>
              </c:strCache>
            </c:strRef>
          </c:tx>
          <c:dPt>
            <c:idx val="0"/>
            <c:spPr>
              <a:solidFill>
                <a:srgbClr val="5BC8C0"/>
              </a:solidFill>
            </c:spPr>
          </c:dPt>
          <c:dPt>
            <c:idx val="1"/>
            <c:spPr>
              <a:solidFill>
                <a:srgbClr val="E8A33D"/>
              </a:solidFill>
            </c:spPr>
          </c:dPt>
          <c:cat>
            <c:strRef>
              <c:f>Sheet1!$A$2:$A$3</c:f>
              <c:strCache>
                <c:ptCount val="2"/>
                <c:pt idx="0">
                  <c:v>Steam Toplam</c:v>
                </c:pt>
                <c:pt idx="1">
                  <c:v>İndie Oyunlar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17.7</c:v>
                </c:pt>
                <c:pt idx="1">
                  <c:v>4.4</c:v>
                </c:pt>
              </c:numCache>
            </c:numRef>
          </c:val>
        </c:ser>
        <c:dLbls>
          <c:numFmt formatCode="&quot;$&quot;0.00&quot; Mlyr&quot;" sourceLinked="0"/>
          <c:txPr>
            <a:bodyPr/>
            <a:lstStyle/>
            <a:p>
              <a:pPr>
                <a:defRPr sz="1100" b="1">
                  <a:solidFill>
                    <a:srgbClr val="1B222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7CEDA"/>
            </a:solidFill>
          </a:ln>
        </c:spPr>
        <c:txPr>
          <a:bodyPr/>
          <a:lstStyle/>
          <a:p>
            <a:pPr>
              <a:defRPr sz="1100">
                <a:solidFill>
                  <a:srgbClr val="1B222E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Geliri ($ Milyon)</c:v>
                </c:pt>
              </c:strCache>
            </c:strRef>
          </c:tx>
          <c:dPt>
            <c:idx val="0"/>
            <c:spPr>
              <a:solidFill>
                <a:srgbClr val="9AC1E9"/>
              </a:solidFill>
            </c:spPr>
          </c:dPt>
          <c:dPt>
            <c:idx val="1"/>
            <c:spPr>
              <a:solidFill>
                <a:srgbClr val="E9D592"/>
              </a:solidFill>
            </c:spPr>
          </c:dPt>
          <c:dPt>
            <c:idx val="2"/>
            <c:spPr>
              <a:solidFill>
                <a:srgbClr val="E8A33D"/>
              </a:solidFill>
            </c:spPr>
          </c:dPt>
          <c:cat>
            <c:strRef>
              <c:f>Sheet1!$A$2:$A$4</c:f>
              <c:strCache>
                <c:ptCount val="3"/>
                <c:pt idx="0">
                  <c:v>Evony</c:v>
                </c:pt>
                <c:pt idx="1">
                  <c:v>Rise of Kingdoms</c:v>
                </c:pt>
                <c:pt idx="2">
                  <c:v>Last War: Survival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</c:v>
                </c:pt>
                <c:pt idx="1">
                  <c:v>214</c:v>
                </c:pt>
                <c:pt idx="2">
                  <c:v>2200</c:v>
                </c:pt>
              </c:numCache>
            </c:numRef>
          </c:val>
        </c:ser>
        <c:dLbls>
          <c:numFmt formatCode="&quot;$&quot;#,##0&quot; Mn&quot;" sourceLinked="0"/>
          <c:txPr>
            <a:bodyPr/>
            <a:lstStyle/>
            <a:p>
              <a:pPr>
                <a:defRPr sz="1100" b="1">
                  <a:solidFill>
                    <a:srgbClr val="1B222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1B222E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66735" y="1212288"/>
            <a:ext cx="111193" cy="111193"/>
          </a:xfrm>
          <a:prstGeom prst="ellipse">
            <a:avLst/>
          </a:prstGeom>
          <a:solidFill>
            <a:srgbClr val="E99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68122" y="859613"/>
            <a:ext cx="104339" cy="104339"/>
          </a:xfrm>
          <a:prstGeom prst="ellipse">
            <a:avLst/>
          </a:prstGeom>
          <a:solidFill>
            <a:srgbClr val="92E9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27648" y="808733"/>
            <a:ext cx="87781" cy="87781"/>
          </a:xfrm>
          <a:prstGeom prst="ellipse">
            <a:avLst/>
          </a:prstGeom>
          <a:solidFill>
            <a:srgbClr val="9AC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8811" y="2913946"/>
            <a:ext cx="128888" cy="128888"/>
          </a:xfrm>
          <a:prstGeom prst="ellipse">
            <a:avLst/>
          </a:prstGeom>
          <a:solidFill>
            <a:srgbClr val="E99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675771" y="4195501"/>
            <a:ext cx="104360" cy="104360"/>
          </a:xfrm>
          <a:prstGeom prst="ellipse">
            <a:avLst/>
          </a:prstGeom>
          <a:solidFill>
            <a:srgbClr val="E99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85732" y="2740847"/>
            <a:ext cx="143915" cy="143915"/>
          </a:xfrm>
          <a:prstGeom prst="ellipse">
            <a:avLst/>
          </a:prstGeom>
          <a:solidFill>
            <a:srgbClr val="E99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103503" y="1102390"/>
            <a:ext cx="87878" cy="87878"/>
          </a:xfrm>
          <a:prstGeom prst="ellipse">
            <a:avLst/>
          </a:prstGeom>
          <a:solidFill>
            <a:srgbClr val="92E9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337760" y="2192435"/>
            <a:ext cx="127809" cy="127809"/>
          </a:xfrm>
          <a:prstGeom prst="ellipse">
            <a:avLst/>
          </a:prstGeom>
          <a:solidFill>
            <a:srgbClr val="9AC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78470" y="3826023"/>
            <a:ext cx="64616" cy="64616"/>
          </a:xfrm>
          <a:prstGeom prst="ellipse">
            <a:avLst/>
          </a:prstGeom>
          <a:solidFill>
            <a:srgbClr val="E99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067613" y="664736"/>
            <a:ext cx="51714" cy="51714"/>
          </a:xfrm>
          <a:prstGeom prst="ellipse">
            <a:avLst/>
          </a:prstGeom>
          <a:solidFill>
            <a:srgbClr val="9AC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1094" y="3580513"/>
            <a:ext cx="123896" cy="123896"/>
          </a:xfrm>
          <a:prstGeom prst="ellipse">
            <a:avLst/>
          </a:prstGeom>
          <a:solidFill>
            <a:srgbClr val="C79A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219766" y="3092184"/>
            <a:ext cx="75871" cy="75871"/>
          </a:xfrm>
          <a:prstGeom prst="ellipse">
            <a:avLst/>
          </a:prstGeom>
          <a:solidFill>
            <a:srgbClr val="9AC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676146" y="1792092"/>
            <a:ext cx="103497" cy="103497"/>
          </a:xfrm>
          <a:prstGeom prst="ellipse">
            <a:avLst/>
          </a:prstGeom>
          <a:solidFill>
            <a:srgbClr val="92E9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55871" y="2410024"/>
            <a:ext cx="90865" cy="90865"/>
          </a:xfrm>
          <a:prstGeom prst="ellipse">
            <a:avLst/>
          </a:prstGeom>
          <a:solidFill>
            <a:srgbClr val="92E9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807436" y="1008443"/>
            <a:ext cx="87776" cy="87776"/>
          </a:xfrm>
          <a:prstGeom prst="ellipse">
            <a:avLst/>
          </a:prstGeom>
          <a:solidFill>
            <a:srgbClr val="E9D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75328" y="3314653"/>
            <a:ext cx="49663" cy="49663"/>
          </a:xfrm>
          <a:prstGeom prst="ellipse">
            <a:avLst/>
          </a:prstGeom>
          <a:solidFill>
            <a:srgbClr val="E9B8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76135" y="3744390"/>
            <a:ext cx="125090" cy="125090"/>
          </a:xfrm>
          <a:prstGeom prst="ellipse">
            <a:avLst/>
          </a:prstGeom>
          <a:solidFill>
            <a:srgbClr val="E9D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32274" y="2451701"/>
            <a:ext cx="95677" cy="95677"/>
          </a:xfrm>
          <a:prstGeom prst="ellipse">
            <a:avLst/>
          </a:prstGeom>
          <a:solidFill>
            <a:srgbClr val="C79A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40498" y="856292"/>
            <a:ext cx="72871" cy="72871"/>
          </a:xfrm>
          <a:prstGeom prst="ellipse">
            <a:avLst/>
          </a:prstGeom>
          <a:solidFill>
            <a:srgbClr val="E9B8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535963" y="651557"/>
            <a:ext cx="116278" cy="116278"/>
          </a:xfrm>
          <a:prstGeom prst="ellipse">
            <a:avLst/>
          </a:prstGeom>
          <a:solidFill>
            <a:srgbClr val="E9B8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189125" y="4510198"/>
            <a:ext cx="90544" cy="90544"/>
          </a:xfrm>
          <a:prstGeom prst="ellipse">
            <a:avLst/>
          </a:prstGeom>
          <a:solidFill>
            <a:srgbClr val="E9B8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416017" y="4431949"/>
            <a:ext cx="47989" cy="47989"/>
          </a:xfrm>
          <a:prstGeom prst="ellipse">
            <a:avLst/>
          </a:prstGeom>
          <a:solidFill>
            <a:srgbClr val="C79A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94000" y="4072968"/>
            <a:ext cx="95377" cy="95377"/>
          </a:xfrm>
          <a:prstGeom prst="ellipse">
            <a:avLst/>
          </a:prstGeom>
          <a:solidFill>
            <a:srgbClr val="9AC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954717" y="1078547"/>
            <a:ext cx="70626" cy="70626"/>
          </a:xfrm>
          <a:prstGeom prst="ellipse">
            <a:avLst/>
          </a:prstGeom>
          <a:solidFill>
            <a:srgbClr val="C79A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52521" y="3361558"/>
            <a:ext cx="62453" cy="62453"/>
          </a:xfrm>
          <a:prstGeom prst="ellipse">
            <a:avLst/>
          </a:prstGeom>
          <a:solidFill>
            <a:srgbClr val="C79A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074434" y="5767129"/>
            <a:ext cx="128126" cy="128126"/>
          </a:xfrm>
          <a:prstGeom prst="ellipse">
            <a:avLst/>
          </a:prstGeom>
          <a:solidFill>
            <a:srgbClr val="92E9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7772400" cy="6858000"/>
          </a:xfrm>
          <a:prstGeom prst="rect">
            <a:avLst/>
          </a:prstGeom>
          <a:solidFill>
            <a:srgbClr val="0B1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803136"/>
            <a:ext cx="12191695" cy="762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1965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5BC8C0"/>
                </a:solidFill>
                <a:latin typeface="Segoe UI"/>
              </a:rPr>
              <a:t>GERÇEK ZAMANLI ÇOK OYUNCULU TOPRAK FETİH STRATEJİSİ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2331720"/>
            <a:ext cx="9144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F5F7FA"/>
                </a:solidFill>
                <a:latin typeface="Segoe UI"/>
              </a:rPr>
              <a:t>CatWars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342900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E8A33D"/>
                </a:solidFill>
                <a:latin typeface="Segoe UI"/>
              </a:rPr>
              <a:t>Steam'e Hazırlanan PC Oyunu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3977639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9AA5B8"/>
                </a:solidFill>
                <a:latin typeface="Segoe UI"/>
              </a:rPr>
              <a:t>Oyun Tanımı  •  Benzer Oyunlar  •  Pazar ve Gelir Verileri  •  Steam Konumlandırması  •  Riskler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" y="4663440"/>
            <a:ext cx="822960" cy="381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59436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C6678"/>
                </a:solidFill>
                <a:latin typeface="Segoe UI"/>
              </a:rPr>
              <a:t>Pazar Araştırması ve Rekabet Analizi Sunumu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" y="6263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C6678"/>
                </a:solidFill>
                <a:latin typeface="Segoe U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BC8C0"/>
                </a:solidFill>
                <a:latin typeface="Segoe UI"/>
              </a:rPr>
              <a:t>İÇINDEKILER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5F7FA"/>
                </a:solidFill>
                <a:latin typeface="Segoe UI"/>
              </a:rPr>
              <a:t>Sunum Akışı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298448"/>
            <a:ext cx="822960" cy="40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678"/>
                </a:solidFill>
                <a:latin typeface="Segoe UI"/>
              </a:rPr>
              <a:t>CatWars  •  Pazar ve Rakip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6678"/>
                </a:solidFill>
                <a:latin typeface="Segoe UI"/>
              </a:rPr>
              <a:t>02 / 18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783080"/>
            <a:ext cx="5349240" cy="1298448"/>
          </a:xfrm>
          <a:prstGeom prst="rect">
            <a:avLst/>
          </a:prstGeom>
          <a:solidFill>
            <a:srgbClr val="16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783080"/>
            <a:ext cx="40640" cy="12984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892808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8A33D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929384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5F7FA"/>
                </a:solidFill>
                <a:latin typeface="Segoe UI"/>
              </a:rPr>
              <a:t>Oyun Tanımı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313432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5B8"/>
                </a:solidFill>
                <a:latin typeface="Segoe UI"/>
              </a:rPr>
              <a:t>CatWars nedir, hangi oyundan ilham alıyor, temel oynanış döngüsü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783080"/>
            <a:ext cx="5349240" cy="1298448"/>
          </a:xfrm>
          <a:prstGeom prst="rect">
            <a:avLst/>
          </a:prstGeom>
          <a:solidFill>
            <a:srgbClr val="16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783080"/>
            <a:ext cx="40640" cy="12984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892808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8A33D"/>
                </a:solidFill>
                <a:latin typeface="Segoe U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1929384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5F7FA"/>
                </a:solidFill>
                <a:latin typeface="Segoe UI"/>
              </a:rPr>
              <a:t>Teknik Altyapı ve Mevcut Durum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2313432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5B8"/>
                </a:solidFill>
                <a:latin typeface="Segoe UI"/>
              </a:rPr>
              <a:t>Kullanılan teknolojiler, tamamlanan fazlar, sınırlamalar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3264408"/>
            <a:ext cx="5349240" cy="1298448"/>
          </a:xfrm>
          <a:prstGeom prst="rect">
            <a:avLst/>
          </a:prstGeom>
          <a:solidFill>
            <a:srgbClr val="16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" y="3264408"/>
            <a:ext cx="40640" cy="12984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" y="3374136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8A33D"/>
                </a:solidFill>
                <a:latin typeface="Segoe U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410712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5F7FA"/>
                </a:solidFill>
                <a:latin typeface="Segoe UI"/>
              </a:rPr>
              <a:t>Pazar Kategorisi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379476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5B8"/>
                </a:solidFill>
                <a:latin typeface="Segoe UI"/>
              </a:rPr>
              <a:t>Steam'de gerçek-zamanlı strateji / toprak fetih kategorisi ve komşu segmentler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3264408"/>
            <a:ext cx="5349240" cy="1298448"/>
          </a:xfrm>
          <a:prstGeom prst="rect">
            <a:avLst/>
          </a:prstGeom>
          <a:solidFill>
            <a:srgbClr val="16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3264408"/>
            <a:ext cx="40640" cy="12984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3374136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8A33D"/>
                </a:solidFill>
                <a:latin typeface="Segoe U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3410712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5F7FA"/>
                </a:solidFill>
                <a:latin typeface="Segoe UI"/>
              </a:rPr>
              <a:t>Rakip Analizi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379476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5B8"/>
                </a:solidFill>
                <a:latin typeface="Segoe UI"/>
              </a:rPr>
              <a:t>OpenFront.io, territorial.io, Generals.io, Risk, Supremacy 1914, mobil 4X devleri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" y="4745736"/>
            <a:ext cx="5349240" cy="1298448"/>
          </a:xfrm>
          <a:prstGeom prst="rect">
            <a:avLst/>
          </a:prstGeom>
          <a:solidFill>
            <a:srgbClr val="16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" y="4745736"/>
            <a:ext cx="40640" cy="12984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855464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8A33D"/>
                </a:solidFill>
                <a:latin typeface="Segoe UI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892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5F7FA"/>
                </a:solidFill>
                <a:latin typeface="Segoe UI"/>
              </a:rPr>
              <a:t>Pazar Büyüklüğü ve Gelir Verileri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920" y="5276088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5B8"/>
                </a:solidFill>
                <a:latin typeface="Segoe UI"/>
              </a:rPr>
              <a:t>Küresel oyun pazarı, Steam/indie gelirleri, 4X strateji pazarı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745736"/>
            <a:ext cx="5349240" cy="1298448"/>
          </a:xfrm>
          <a:prstGeom prst="rect">
            <a:avLst/>
          </a:prstGeom>
          <a:solidFill>
            <a:srgbClr val="16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17920" y="4745736"/>
            <a:ext cx="40640" cy="12984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4855464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8A33D"/>
                </a:solidFill>
                <a:latin typeface="Segoe UI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69480" y="4892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5F7FA"/>
                </a:solidFill>
                <a:latin typeface="Segoe UI"/>
              </a:rPr>
              <a:t>Konumlandırma, Riskler ve Sonuç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480" y="5276088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5B8"/>
                </a:solidFill>
                <a:latin typeface="Segoe UI"/>
              </a:rPr>
              <a:t>Karşılaştırma tablosu, pazar haritası, olası sorunlar/maliyetler, öneriler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BC8C0"/>
                </a:solidFill>
                <a:latin typeface="Segoe UI"/>
              </a:rPr>
              <a:t>BÖLÜM 1 · OYUN TANIMI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5F7FA"/>
                </a:solidFill>
                <a:latin typeface="Segoe UI"/>
              </a:rPr>
              <a:t>CatWars Nedir?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298448"/>
            <a:ext cx="822960" cy="40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9AA5B8"/>
                </a:solidFill>
                <a:latin typeface="Segoe UI"/>
              </a:rPr>
              <a:t>OpenFront.io / territorial.io ilhamlı, Steam'de PC oyunu olarak yayınlanacak gerçek-zamanlı toprak fetih stratejisi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678"/>
                </a:solidFill>
                <a:latin typeface="Segoe UI"/>
              </a:rPr>
              <a:t>CatWars  •  Pazar ve Rakip Analizi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6678"/>
                </a:solidFill>
                <a:latin typeface="Segoe UI"/>
              </a:rPr>
              <a:t>03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6035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A33D"/>
                </a:solidFill>
                <a:latin typeface="Segoe UI"/>
              </a:rPr>
              <a:t>TEMEL TANIM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21408"/>
            <a:ext cx="603504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3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350" b="1" i="0">
                <a:solidFill>
                  <a:srgbClr val="F5F7FA"/>
                </a:solidFill>
                <a:latin typeface="Segoe UI"/>
              </a:rPr>
              <a:t>Tür: </a:t>
            </a:r>
            <a:r>
              <a:rPr sz="1350" b="0" i="0">
                <a:solidFill>
                  <a:srgbClr val="F5F7FA"/>
                </a:solidFill>
                <a:latin typeface="Segoe UI"/>
              </a:rPr>
              <a:t>Gerçek-zamanlı çok oyunculu strateji / toprak fetih — Steam'de PC oyunu olarak yayınlanacak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3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350" b="1" i="0">
                <a:solidFill>
                  <a:srgbClr val="F5F7FA"/>
                </a:solidFill>
                <a:latin typeface="Segoe UI"/>
              </a:rPr>
              <a:t>Harita: </a:t>
            </a:r>
            <a:r>
              <a:rPr sz="1350" b="0" i="0">
                <a:solidFill>
                  <a:srgbClr val="F5F7FA"/>
                </a:solidFill>
                <a:latin typeface="Segoe UI"/>
              </a:rPr>
              <a:t>Gerçek dünya kıyı şeritleri (Avrupa, Afrika, Kuzey Amerika, Dünya) + prosedürel "Rastgele Ada"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3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350" b="1" i="0">
                <a:solidFill>
                  <a:srgbClr val="F5F7FA"/>
                </a:solidFill>
                <a:latin typeface="Segoe UI"/>
              </a:rPr>
              <a:t>Oynanış döngüsü: </a:t>
            </a:r>
            <a:r>
              <a:rPr sz="1350" b="0" i="0">
                <a:solidFill>
                  <a:srgbClr val="F5F7FA"/>
                </a:solidFill>
                <a:latin typeface="Segoe UI"/>
              </a:rPr>
              <a:t>Küçük yuvarlak bir toprakla doğ → komşu toprağa tıklayarak süregelen bir "cephe" aç → büyü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3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350" b="1" i="0">
                <a:solidFill>
                  <a:srgbClr val="F5F7FA"/>
                </a:solidFill>
                <a:latin typeface="Segoe UI"/>
              </a:rPr>
              <a:t>Ölçek: </a:t>
            </a:r>
            <a:r>
              <a:rPr sz="1350" b="0" i="0">
                <a:solidFill>
                  <a:srgbClr val="F5F7FA"/>
                </a:solidFill>
                <a:latin typeface="Segoe UI"/>
              </a:rPr>
              <a:t>1-2 insan oyuncu + ayarlanabilir bot sayısı (0-400, varsayılan 20)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3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350" b="1" i="0">
                <a:solidFill>
                  <a:srgbClr val="F5F7FA"/>
                </a:solidFill>
                <a:latin typeface="Segoe UI"/>
              </a:rPr>
              <a:t>Kazanma koşulu: </a:t>
            </a:r>
            <a:r>
              <a:rPr sz="1350" b="0" i="0">
                <a:solidFill>
                  <a:srgbClr val="F5F7FA"/>
                </a:solidFill>
                <a:latin typeface="Segoe UI"/>
              </a:rPr>
              <a:t>Haritanın %72'sini kontrol eden oyuncu kazanır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3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350" b="1" i="0">
                <a:solidFill>
                  <a:srgbClr val="F5F7FA"/>
                </a:solidFill>
                <a:latin typeface="Segoe UI"/>
              </a:rPr>
              <a:t>Ekonomi: </a:t>
            </a:r>
            <a:r>
              <a:rPr sz="1350" b="0" i="0">
                <a:solidFill>
                  <a:srgbClr val="F5F7FA"/>
                </a:solidFill>
                <a:latin typeface="Segoe UI"/>
              </a:rPr>
              <a:t>Asker (saldırı/savunma) ve Altın (bina inşası) kaynakları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1783080"/>
            <a:ext cx="4526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A33D"/>
                </a:solidFill>
                <a:latin typeface="Segoe UI"/>
              </a:rPr>
              <a:t>OYUN İÇİ SİSTEMLER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0" y="2167128"/>
            <a:ext cx="4526280" cy="530352"/>
          </a:xfrm>
          <a:prstGeom prst="rect">
            <a:avLst/>
          </a:prstGeom>
          <a:solidFill>
            <a:srgbClr val="16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0880" y="2167128"/>
            <a:ext cx="38100" cy="530352"/>
          </a:xfrm>
          <a:prstGeom prst="rect">
            <a:avLst/>
          </a:prstGeom>
          <a:solidFill>
            <a:srgbClr val="E99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0" y="222199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F7FA"/>
                </a:solidFill>
                <a:latin typeface="Segoe UI"/>
              </a:rPr>
              <a:t>Şehir &amp; Karakol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459736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5B8"/>
                </a:solidFill>
                <a:latin typeface="Segoe UI"/>
              </a:rPr>
              <a:t>asker kapasitesi + savunma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0" y="2788920"/>
            <a:ext cx="4526280" cy="530352"/>
          </a:xfrm>
          <a:prstGeom prst="rect">
            <a:avLst/>
          </a:prstGeom>
          <a:solidFill>
            <a:srgbClr val="16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040880" y="2788920"/>
            <a:ext cx="38100" cy="530352"/>
          </a:xfrm>
          <a:prstGeom prst="rect">
            <a:avLst/>
          </a:prstGeom>
          <a:solidFill>
            <a:srgbClr val="9AC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0" y="284378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F7FA"/>
                </a:solidFill>
                <a:latin typeface="Segoe UI"/>
              </a:rPr>
              <a:t>Liman &amp; Ticaret Gemisi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3081528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5B8"/>
                </a:solidFill>
                <a:latin typeface="Segoe UI"/>
              </a:rPr>
              <a:t>pasif altın ekonomisi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0" y="3410712"/>
            <a:ext cx="4526280" cy="530352"/>
          </a:xfrm>
          <a:prstGeom prst="rect">
            <a:avLst/>
          </a:prstGeom>
          <a:solidFill>
            <a:srgbClr val="16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40880" y="3410712"/>
            <a:ext cx="38100" cy="530352"/>
          </a:xfrm>
          <a:prstGeom prst="rect">
            <a:avLst/>
          </a:prstGeom>
          <a:solidFill>
            <a:srgbClr val="E9D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0" y="3465576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F7FA"/>
                </a:solidFill>
                <a:latin typeface="Segoe UI"/>
              </a:rPr>
              <a:t>Savaş Gemisi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370332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5B8"/>
                </a:solidFill>
                <a:latin typeface="Segoe UI"/>
              </a:rPr>
              <a:t>deniz savaşı, kuşatma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4032504"/>
            <a:ext cx="4526280" cy="530352"/>
          </a:xfrm>
          <a:prstGeom prst="rect">
            <a:avLst/>
          </a:prstGeom>
          <a:solidFill>
            <a:srgbClr val="16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040880" y="4032504"/>
            <a:ext cx="38100" cy="530352"/>
          </a:xfrm>
          <a:prstGeom prst="rect">
            <a:avLst/>
          </a:prstGeom>
          <a:solidFill>
            <a:srgbClr val="C79A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0" y="408736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F7FA"/>
                </a:solidFill>
                <a:latin typeface="Segoe UI"/>
              </a:rPr>
              <a:t>Bot 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4325112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5B8"/>
                </a:solidFill>
                <a:latin typeface="Segoe UI"/>
              </a:rPr>
              <a:t>sınır-tabanlı hedefleme, 400'e kadar ölçekli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40880" y="4654296"/>
            <a:ext cx="4526280" cy="530352"/>
          </a:xfrm>
          <a:prstGeom prst="rect">
            <a:avLst/>
          </a:prstGeom>
          <a:solidFill>
            <a:srgbClr val="16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040880" y="4654296"/>
            <a:ext cx="38100" cy="530352"/>
          </a:xfrm>
          <a:prstGeom prst="rect">
            <a:avLst/>
          </a:prstGeom>
          <a:solidFill>
            <a:srgbClr val="92E9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0" y="47091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F7FA"/>
                </a:solidFill>
                <a:latin typeface="Segoe UI"/>
              </a:rPr>
              <a:t>Karşılıklı cephe vurgusu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4946904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5B8"/>
                </a:solidFill>
                <a:latin typeface="Segoe UI"/>
              </a:rPr>
              <a:t>"o beni itiyor, ben onu itiyorum"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40880" y="5276088"/>
            <a:ext cx="4526280" cy="530352"/>
          </a:xfrm>
          <a:prstGeom prst="rect">
            <a:avLst/>
          </a:prstGeom>
          <a:solidFill>
            <a:srgbClr val="16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040880" y="5276088"/>
            <a:ext cx="38100" cy="530352"/>
          </a:xfrm>
          <a:prstGeom prst="rect">
            <a:avLst/>
          </a:prstGeom>
          <a:solidFill>
            <a:srgbClr val="E9B8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0" y="533095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F7FA"/>
                </a:solidFill>
                <a:latin typeface="Segoe UI"/>
              </a:rPr>
              <a:t>Kamera &amp; UX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5568696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5B8"/>
                </a:solidFill>
                <a:latin typeface="Segoe UI"/>
              </a:rPr>
              <a:t>pan/zoom, hover, tıklama geri bildirimi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BC8C0"/>
                </a:solidFill>
                <a:latin typeface="Segoe UI"/>
              </a:rPr>
              <a:t>BÖLÜM 1 · OYUN TANIMI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5F7FA"/>
                </a:solidFill>
                <a:latin typeface="Segoe UI"/>
              </a:rPr>
              <a:t>Teknik Altyapı ve Mevcut Durum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298448"/>
            <a:ext cx="822960" cy="40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678"/>
                </a:solidFill>
                <a:latin typeface="Segoe UI"/>
              </a:rPr>
              <a:t>CatWars  •  Pazar ve Rakip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6678"/>
                </a:solidFill>
                <a:latin typeface="Segoe UI"/>
              </a:rPr>
              <a:t>04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83080"/>
            <a:ext cx="5394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A33D"/>
                </a:solidFill>
                <a:latin typeface="Segoe UI"/>
              </a:rPr>
              <a:t>TEKNOLOJİ YIĞINI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121408"/>
            <a:ext cx="2542032" cy="868680"/>
          </a:xfrm>
          <a:prstGeom prst="rect">
            <a:avLst/>
          </a:prstGeom>
          <a:solidFill>
            <a:srgbClr val="1D283D"/>
          </a:solidFill>
          <a:ln w="9525">
            <a:solidFill>
              <a:srgbClr val="5B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121408"/>
            <a:ext cx="40640" cy="868680"/>
          </a:xfrm>
          <a:prstGeom prst="rect">
            <a:avLst/>
          </a:prstGeom>
          <a:solidFill>
            <a:srgbClr val="5BC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231136"/>
            <a:ext cx="2267712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1" i="0">
                <a:solidFill>
                  <a:srgbClr val="F5F7FA"/>
                </a:solidFill>
                <a:latin typeface="Segoe UI"/>
              </a:rPr>
              <a:t>TypeScript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1000" b="0" i="0">
                <a:solidFill>
                  <a:srgbClr val="9AA5B8"/>
                </a:solidFill>
                <a:latin typeface="Segoe UI"/>
              </a:rPr>
              <a:t>tüm proje geneli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2121408"/>
            <a:ext cx="2542032" cy="868680"/>
          </a:xfrm>
          <a:prstGeom prst="rect">
            <a:avLst/>
          </a:prstGeom>
          <a:solidFill>
            <a:srgbClr val="1D283D"/>
          </a:solidFill>
          <a:ln w="9525">
            <a:solidFill>
              <a:srgbClr val="5B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2121408"/>
            <a:ext cx="40640" cy="868680"/>
          </a:xfrm>
          <a:prstGeom prst="rect">
            <a:avLst/>
          </a:prstGeom>
          <a:solidFill>
            <a:srgbClr val="5BC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2152" y="2231136"/>
            <a:ext cx="2267712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1" i="0">
                <a:solidFill>
                  <a:srgbClr val="F5F7FA"/>
                </a:solidFill>
                <a:latin typeface="Segoe UI"/>
              </a:rPr>
              <a:t>Vite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1000" b="0" i="0">
                <a:solidFill>
                  <a:srgbClr val="9AA5B8"/>
                </a:solidFill>
                <a:latin typeface="Segoe UI"/>
              </a:rPr>
              <a:t>client dev / build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154680"/>
            <a:ext cx="2542032" cy="868680"/>
          </a:xfrm>
          <a:prstGeom prst="rect">
            <a:avLst/>
          </a:prstGeom>
          <a:solidFill>
            <a:srgbClr val="1D283D"/>
          </a:solidFill>
          <a:ln w="9525">
            <a:solidFill>
              <a:srgbClr val="5B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154680"/>
            <a:ext cx="40640" cy="868680"/>
          </a:xfrm>
          <a:prstGeom prst="rect">
            <a:avLst/>
          </a:prstGeom>
          <a:solidFill>
            <a:srgbClr val="5BC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264408"/>
            <a:ext cx="2267712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1" i="0">
                <a:solidFill>
                  <a:srgbClr val="F5F7FA"/>
                </a:solidFill>
                <a:latin typeface="Segoe UI"/>
              </a:rPr>
              <a:t>Node.js + ws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1000" b="0" i="0">
                <a:solidFill>
                  <a:srgbClr val="9AA5B8"/>
                </a:solidFill>
                <a:latin typeface="Segoe UI"/>
              </a:rPr>
              <a:t>WebSocket sunucu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37560" y="3154680"/>
            <a:ext cx="2542032" cy="868680"/>
          </a:xfrm>
          <a:prstGeom prst="rect">
            <a:avLst/>
          </a:prstGeom>
          <a:solidFill>
            <a:srgbClr val="1D283D"/>
          </a:solidFill>
          <a:ln w="9525">
            <a:solidFill>
              <a:srgbClr val="5B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37560" y="3154680"/>
            <a:ext cx="40640" cy="868680"/>
          </a:xfrm>
          <a:prstGeom prst="rect">
            <a:avLst/>
          </a:prstGeom>
          <a:solidFill>
            <a:srgbClr val="5BC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02152" y="3264408"/>
            <a:ext cx="2267712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1" i="0">
                <a:solidFill>
                  <a:srgbClr val="F5F7FA"/>
                </a:solidFill>
                <a:latin typeface="Segoe UI"/>
              </a:rPr>
              <a:t>tsx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1000" b="0" i="0">
                <a:solidFill>
                  <a:srgbClr val="9AA5B8"/>
                </a:solidFill>
                <a:latin typeface="Segoe UI"/>
              </a:rPr>
              <a:t>server'ı doğrudan TS çalıştırır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160520"/>
            <a:ext cx="5394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A33D"/>
                </a:solidFill>
                <a:latin typeface="Segoe UI"/>
              </a:rPr>
              <a:t>MİMARİ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480560"/>
            <a:ext cx="53949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2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250" b="0" i="0">
                <a:solidFill>
                  <a:srgbClr val="F5F7FA"/>
                </a:solidFill>
                <a:latin typeface="Segoe UI"/>
              </a:rPr>
              <a:t>core/ — paylaşılan deterministik oyun mantığı (client + server ortak)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2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250" b="0" i="0">
                <a:solidFill>
                  <a:srgbClr val="F5F7FA"/>
                </a:solidFill>
                <a:latin typeface="Segoe UI"/>
              </a:rPr>
              <a:t>server/ — WebSocket, 10 tick/sn döngü, bot AI karar döngüsü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2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250" b="0" i="0">
                <a:solidFill>
                  <a:srgbClr val="F5F7FA"/>
                </a:solidFill>
                <a:latin typeface="Segoe UI"/>
              </a:rPr>
              <a:t>client/ — Canvas2D render, kamera, girdi/UI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178308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A33D"/>
                </a:solidFill>
                <a:latin typeface="Segoe UI"/>
              </a:rPr>
              <a:t>MEVCUT DURUM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121408"/>
            <a:ext cx="52120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20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200" b="1" i="0">
                <a:solidFill>
                  <a:srgbClr val="F5F7FA"/>
                </a:solidFill>
                <a:latin typeface="Segoe UI"/>
              </a:rPr>
              <a:t>Tek oyun modu: </a:t>
            </a:r>
            <a:r>
              <a:rPr sz="1200" b="0" i="0">
                <a:solidFill>
                  <a:srgbClr val="F5F7FA"/>
                </a:solidFill>
                <a:latin typeface="Segoe UI"/>
              </a:rPr>
              <a:t>herkese karşı herkes (FFA), takım/lobi sistemi henüz yok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20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200" b="1" i="0">
                <a:solidFill>
                  <a:srgbClr val="F5F7FA"/>
                </a:solidFill>
                <a:latin typeface="Segoe UI"/>
              </a:rPr>
              <a:t>Yayın: </a:t>
            </a:r>
            <a:r>
              <a:rPr sz="1200" b="0" i="0">
                <a:solidFill>
                  <a:srgbClr val="F5F7FA"/>
                </a:solidFill>
                <a:latin typeface="Segoe UI"/>
              </a:rPr>
              <a:t>hosting/deploy yapılmadı — sadece local "npm run dev"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20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200" b="1" i="0">
                <a:solidFill>
                  <a:srgbClr val="F5F7FA"/>
                </a:solidFill>
                <a:latin typeface="Segoe UI"/>
              </a:rPr>
              <a:t>Hedef platform: </a:t>
            </a:r>
            <a:r>
              <a:rPr sz="1200" b="0" i="0">
                <a:solidFill>
                  <a:srgbClr val="F5F7FA"/>
                </a:solidFill>
                <a:latin typeface="Segoe UI"/>
              </a:rPr>
              <a:t>Steam — prodüksiyon-grade sunucu altyapısı henüz kurulmadı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20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200" b="1" i="0">
                <a:solidFill>
                  <a:srgbClr val="F5F7FA"/>
                </a:solidFill>
                <a:latin typeface="Segoe UI"/>
              </a:rPr>
              <a:t>Gelir modeli: </a:t>
            </a:r>
            <a:r>
              <a:rPr sz="1200" b="0" i="0">
                <a:solidFill>
                  <a:srgbClr val="F5F7FA"/>
                </a:solidFill>
                <a:latin typeface="Segoe UI"/>
              </a:rPr>
              <a:t>henüz belirlenmedi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20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200" b="1" i="0">
                <a:solidFill>
                  <a:srgbClr val="F5F7FA"/>
                </a:solidFill>
                <a:latin typeface="Segoe UI"/>
              </a:rPr>
              <a:t>5 harita </a:t>
            </a:r>
            <a:r>
              <a:rPr sz="1200" b="0" i="0">
                <a:solidFill>
                  <a:srgbClr val="F5F7FA"/>
                </a:solidFill>
                <a:latin typeface="Segoe UI"/>
              </a:rPr>
              <a:t>(Avrupa, Afrika, Kuzey Amerika, Dünya, Rastgele Ada)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16052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A33D"/>
                </a:solidFill>
                <a:latin typeface="Segoe UI"/>
              </a:rPr>
              <a:t>PLANLANAN FAZLAR (10-15)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4498848"/>
            <a:ext cx="777240" cy="274320"/>
          </a:xfrm>
          <a:prstGeom prst="roundRect">
            <a:avLst/>
          </a:prstGeom>
          <a:solidFill>
            <a:srgbClr val="E99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44988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1B222E"/>
                </a:solidFill>
                <a:latin typeface="Segoe UI"/>
              </a:rPr>
              <a:t>  Faz 10 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49884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F5F7FA"/>
                </a:solidFill>
                <a:latin typeface="Segoe UI"/>
              </a:rPr>
              <a:t>Nükleer silahlar (atom, MIRV, SAM)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06840" y="4498848"/>
            <a:ext cx="777240" cy="274320"/>
          </a:xfrm>
          <a:prstGeom prst="roundRect">
            <a:avLst/>
          </a:prstGeom>
          <a:solidFill>
            <a:srgbClr val="9AC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6840" y="44988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1B222E"/>
                </a:solidFill>
                <a:latin typeface="Segoe UI"/>
              </a:rPr>
              <a:t>  Faz 11 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449884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F5F7FA"/>
                </a:solidFill>
                <a:latin typeface="Segoe UI"/>
              </a:rPr>
              <a:t>İttifak / diplomasi sistemi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55080" y="4974336"/>
            <a:ext cx="777240" cy="274320"/>
          </a:xfrm>
          <a:prstGeom prst="roundRect">
            <a:avLst/>
          </a:prstGeom>
          <a:solidFill>
            <a:srgbClr val="E9D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497433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1B222E"/>
                </a:solidFill>
                <a:latin typeface="Segoe UI"/>
              </a:rPr>
              <a:t>  Faz 12 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974336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F5F7FA"/>
                </a:solidFill>
                <a:latin typeface="Segoe UI"/>
              </a:rPr>
              <a:t>Takım modları, özel lobiler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06840" y="4974336"/>
            <a:ext cx="777240" cy="274320"/>
          </a:xfrm>
          <a:prstGeom prst="roundRect">
            <a:avLst/>
          </a:prstGeom>
          <a:solidFill>
            <a:srgbClr val="C79A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6840" y="497433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1B222E"/>
                </a:solidFill>
                <a:latin typeface="Segoe UI"/>
              </a:rPr>
              <a:t>  Faz 13 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4974336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F5F7FA"/>
                </a:solidFill>
                <a:latin typeface="Segoe UI"/>
              </a:rPr>
              <a:t>Tren / demiryolu (deneysel)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55080" y="5449824"/>
            <a:ext cx="777240" cy="274320"/>
          </a:xfrm>
          <a:prstGeom prst="roundRect">
            <a:avLst/>
          </a:prstGeom>
          <a:solidFill>
            <a:srgbClr val="92E9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5080" y="544982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1B222E"/>
                </a:solidFill>
                <a:latin typeface="Segoe UI"/>
              </a:rPr>
              <a:t>  Faz 14 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0" y="544982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F5F7FA"/>
                </a:solidFill>
                <a:latin typeface="Segoe UI"/>
              </a:rPr>
              <a:t>Hosting / canlıya alma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06840" y="5449824"/>
            <a:ext cx="777240" cy="274320"/>
          </a:xfrm>
          <a:prstGeom prst="roundRect">
            <a:avLst/>
          </a:prstGeom>
          <a:solidFill>
            <a:srgbClr val="E9B8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06840" y="544982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1B222E"/>
                </a:solidFill>
                <a:latin typeface="Segoe UI"/>
              </a:rPr>
              <a:t>  Faz 15 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5520" y="544982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F5F7FA"/>
                </a:solidFill>
                <a:latin typeface="Segoe UI"/>
              </a:rPr>
              <a:t>Görsel iyileştirmeler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BC8C0"/>
                </a:solidFill>
                <a:latin typeface="Segoe UI"/>
              </a:rPr>
              <a:t>BÖLÜM 2 · PAZAR BAĞLAMI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5F7FA"/>
                </a:solidFill>
                <a:latin typeface="Segoe UI"/>
              </a:rPr>
              <a:t>CatWars Hangi Kategoride Yer Alıyor?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298448"/>
            <a:ext cx="822960" cy="40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9AA5B8"/>
                </a:solidFill>
                <a:latin typeface="Segoe UI"/>
              </a:rPr>
              <a:t>Kategorisi "Steam'de gerçek-zamanlı strateji"dir, ".io" değil — mekanik kökeni tarayıcıdan gelse 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678"/>
                </a:solidFill>
                <a:latin typeface="Segoe UI"/>
              </a:rPr>
              <a:t>CatWars  •  Pazar ve Rakip Analizi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6678"/>
                </a:solidFill>
                <a:latin typeface="Segoe UI"/>
              </a:rPr>
              <a:t>05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874519"/>
            <a:ext cx="3429000" cy="4160520"/>
          </a:xfrm>
          <a:prstGeom prst="rect">
            <a:avLst/>
          </a:prstGeom>
          <a:solidFill>
            <a:srgbClr val="16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874519"/>
            <a:ext cx="3429000" cy="73152"/>
          </a:xfrm>
          <a:prstGeom prst="rect">
            <a:avLst/>
          </a:prstGeom>
          <a:solidFill>
            <a:srgbClr val="5C6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103119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5F7FA"/>
                </a:solidFill>
                <a:latin typeface="Segoe UI"/>
              </a:rPr>
              <a:t>Tasarım Kökeni: Tarayıcı / .io Oyunları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87751"/>
            <a:ext cx="2743200" cy="274320"/>
          </a:xfrm>
          <a:prstGeom prst="roundRect">
            <a:avLst/>
          </a:prstGeom>
          <a:solidFill>
            <a:srgbClr val="5C6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587751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1B222E"/>
                </a:solidFill>
                <a:latin typeface="Segoe UI"/>
              </a:rPr>
              <a:t>Mekanik ilham kaynağı · Steam'de DEĞİL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063239"/>
            <a:ext cx="29718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150" b="0" i="0">
                <a:solidFill>
                  <a:srgbClr val="F5F7FA"/>
                </a:solidFill>
                <a:latin typeface="Segoe UI"/>
              </a:rPr>
              <a:t>İndirmesiz, saniyeler içinde başlayan basit oynanış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150" b="0" i="0">
                <a:solidFill>
                  <a:srgbClr val="F5F7FA"/>
                </a:solidFill>
                <a:latin typeface="Segoe UI"/>
              </a:rPr>
              <a:t>Süregelen cephe / tıkla-fethet mekaniği buradan geliyor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150" b="0" i="0">
                <a:solidFill>
                  <a:srgbClr val="F5F7FA"/>
                </a:solidFill>
                <a:latin typeface="Segoe UI"/>
              </a:rPr>
              <a:t>Reklam tabanlı, kısa oturumlu gelir modeli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150" b="0" i="0">
                <a:solidFill>
                  <a:srgbClr val="F5F7FA"/>
                </a:solidFill>
                <a:latin typeface="Segoe UI"/>
              </a:rPr>
              <a:t>CatWars'ın hedef iş modeli/dağıtım kanalı değil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120639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678"/>
                </a:solidFill>
                <a:latin typeface="Segoe UI"/>
              </a:rPr>
              <a:t>ÖRNEKLER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394959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5B8"/>
                </a:solidFill>
                <a:latin typeface="Segoe UI"/>
              </a:rPr>
              <a:t>territorial.io, Generals.io — Steam'de yok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1874519"/>
            <a:ext cx="3429000" cy="4160520"/>
          </a:xfrm>
          <a:prstGeom prst="rect">
            <a:avLst/>
          </a:prstGeom>
          <a:solidFill>
            <a:srgbClr val="16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1874519"/>
            <a:ext cx="3429000" cy="73152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2103119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5F7FA"/>
                </a:solidFill>
                <a:latin typeface="Segoe UI"/>
              </a:rPr>
              <a:t>Hedef Kategori: Steam'de Gerçek-Zamanlı Strateji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0" y="2587751"/>
            <a:ext cx="2743200" cy="274320"/>
          </a:xfrm>
          <a:prstGeom prst="round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587751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1B222E"/>
                </a:solidFill>
                <a:latin typeface="Segoe UI"/>
              </a:rPr>
              <a:t>CatWars'ın rekabet edeceği asıl segment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063239"/>
            <a:ext cx="29718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150" b="0" i="0">
                <a:solidFill>
                  <a:srgbClr val="F5F7FA"/>
                </a:solidFill>
                <a:latin typeface="Segoe UI"/>
              </a:rPr>
              <a:t>Mağaza sayfası, kullanıcı yorumu, wishlist/keşfedilebilirlik dinamikleri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150" b="0" i="0">
                <a:solidFill>
                  <a:srgbClr val="F5F7FA"/>
                </a:solidFill>
                <a:latin typeface="Segoe UI"/>
              </a:rPr>
              <a:t>Tek seferlik satış / IAP tabanlı gelir modelleri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150" b="0" i="0">
                <a:solidFill>
                  <a:srgbClr val="F5F7FA"/>
                </a:solidFill>
                <a:latin typeface="Segoe UI"/>
              </a:rPr>
              <a:t>PC oyuncu kitlesi: daha uzun oturum, daha yüksek harcama isteği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150" b="0" i="0">
                <a:solidFill>
                  <a:srgbClr val="F5F7FA"/>
                </a:solidFill>
                <a:latin typeface="Segoe UI"/>
              </a:rPr>
              <a:t>Derin mekanik (ittifak, ekonomi, savaş yönetimi)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120639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8A33D"/>
                </a:solidFill>
                <a:latin typeface="Segoe UI"/>
              </a:rPr>
              <a:t>ÖRNEKLER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5394959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5B8"/>
                </a:solidFill>
                <a:latin typeface="Segoe UI"/>
              </a:rPr>
              <a:t>OpenFront.io (Erken Erişim), RISK: Global Domination, Supremacy 1914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92440" y="1874519"/>
            <a:ext cx="3429000" cy="4160520"/>
          </a:xfrm>
          <a:prstGeom prst="rect">
            <a:avLst/>
          </a:prstGeom>
          <a:solidFill>
            <a:srgbClr val="1D283D"/>
          </a:solidFill>
          <a:ln w="15875">
            <a:solidFill>
              <a:srgbClr val="E8A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92440" y="1874519"/>
            <a:ext cx="3429000" cy="73152"/>
          </a:xfrm>
          <a:prstGeom prst="rect">
            <a:avLst/>
          </a:prstGeom>
          <a:solidFill>
            <a:srgbClr val="E9B8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2103119"/>
            <a:ext cx="2971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5F7FA"/>
                </a:solidFill>
                <a:latin typeface="Segoe UI"/>
              </a:rPr>
              <a:t>CatWars
Steam'de PC strateji oyunu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3108959"/>
            <a:ext cx="297180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150" b="0" i="0">
                <a:solidFill>
                  <a:srgbClr val="F5F7FA"/>
                </a:solidFill>
                <a:latin typeface="Segoe UI"/>
              </a:rPr>
              <a:t>Kategori: gerçek-zamanlı strateji / toprak fetih — ".io" değil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150" b="0" i="0">
                <a:solidFill>
                  <a:srgbClr val="F5F7FA"/>
                </a:solidFill>
                <a:latin typeface="Segoe UI"/>
              </a:rPr>
              <a:t>Mekanik derinliği (gerçek dünya haritaları, liman, deniz savaşı) zaten üst segmentte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150" b="0" i="0">
                <a:solidFill>
                  <a:srgbClr val="F5F7FA"/>
                </a:solidFill>
                <a:latin typeface="Segoe UI"/>
              </a:rPr>
              <a:t>Planlanan nükleer/ittifak/takım fazlarıyla Steam'deki doğrudan rakiplere yaklaşıyor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5394959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E8A33D"/>
                </a:solidFill>
                <a:latin typeface="Segoe UI"/>
              </a:rPr>
              <a:t>Tarayıcıda doğdu, Steam'de PC strateji oyunu olarak rekabet edecek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BC8C0"/>
                </a:solidFill>
                <a:latin typeface="Segoe UI"/>
              </a:rPr>
              <a:t>BÖLÜM 2 · PAZAR BAĞLAMI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5F7FA"/>
                </a:solidFill>
                <a:latin typeface="Segoe UI"/>
              </a:rPr>
              <a:t>Pazar Büyüklüğü: Küresel Oyun Pazarı ve Steam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298448"/>
            <a:ext cx="822960" cy="40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9AA5B8"/>
                </a:solidFill>
                <a:latin typeface="Segoe UI"/>
              </a:rPr>
              <a:t>Kaynak: Mordor Intelligence, Game World Observer / WN Hub (Steam 2025 verileri)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678"/>
                </a:solidFill>
                <a:latin typeface="Segoe UI"/>
              </a:rPr>
              <a:t>CatWars  •  Pazar ve Rakip Analizi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6678"/>
                </a:solidFill>
                <a:latin typeface="Segoe UI"/>
              </a:rPr>
              <a:t>06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828800"/>
            <a:ext cx="3246120" cy="960120"/>
          </a:xfrm>
          <a:prstGeom prst="rect">
            <a:avLst/>
          </a:prstGeom>
          <a:solidFill>
            <a:srgbClr val="1D283D"/>
          </a:solidFill>
          <a:ln w="9525">
            <a:solidFill>
              <a:srgbClr val="E8A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828800"/>
            <a:ext cx="40640" cy="96012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938528"/>
            <a:ext cx="297180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2000" b="1" i="0">
                <a:solidFill>
                  <a:srgbClr val="F5F7FA"/>
                </a:solidFill>
                <a:latin typeface="Segoe UI"/>
              </a:rPr>
              <a:t>$224,7 Mlyr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1050" b="0" i="0">
                <a:solidFill>
                  <a:srgbClr val="9AA5B8"/>
                </a:solidFill>
                <a:latin typeface="Segoe UI"/>
              </a:rPr>
              <a:t>Küresel oyun pazarı büyüklüğü (2026)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2953512"/>
            <a:ext cx="3246120" cy="960120"/>
          </a:xfrm>
          <a:prstGeom prst="rect">
            <a:avLst/>
          </a:prstGeom>
          <a:solidFill>
            <a:srgbClr val="1D283D"/>
          </a:solidFill>
          <a:ln w="9525">
            <a:solidFill>
              <a:srgbClr val="E8A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2953512"/>
            <a:ext cx="40640" cy="96012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063240"/>
            <a:ext cx="297180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2000" b="1" i="0">
                <a:solidFill>
                  <a:srgbClr val="F5F7FA"/>
                </a:solidFill>
                <a:latin typeface="Segoe UI"/>
              </a:rPr>
              <a:t>$352,6 Mlyr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1050" b="0" i="0">
                <a:solidFill>
                  <a:srgbClr val="9AA5B8"/>
                </a:solidFill>
                <a:latin typeface="Segoe UI"/>
              </a:rPr>
              <a:t>2031 projeksiyonu (%9,43 YBBO)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4078224"/>
            <a:ext cx="3246120" cy="960120"/>
          </a:xfrm>
          <a:prstGeom prst="rect">
            <a:avLst/>
          </a:prstGeom>
          <a:solidFill>
            <a:srgbClr val="1D283D"/>
          </a:solidFill>
          <a:ln w="9525">
            <a:solidFill>
              <a:srgbClr val="E8A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4078224"/>
            <a:ext cx="40640" cy="96012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187952"/>
            <a:ext cx="297180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2000" b="1" i="0">
                <a:solidFill>
                  <a:srgbClr val="F5F7FA"/>
                </a:solidFill>
                <a:latin typeface="Segoe UI"/>
              </a:rPr>
              <a:t>$17,7 Mlyr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1050" b="0" i="0">
                <a:solidFill>
                  <a:srgbClr val="9AA5B8"/>
                </a:solidFill>
                <a:latin typeface="Segoe UI"/>
              </a:rPr>
              <a:t>Steam platformu toplam geliri (2025)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5202936"/>
            <a:ext cx="3246120" cy="960120"/>
          </a:xfrm>
          <a:prstGeom prst="rect">
            <a:avLst/>
          </a:prstGeom>
          <a:solidFill>
            <a:srgbClr val="1D283D"/>
          </a:solidFill>
          <a:ln w="9525">
            <a:solidFill>
              <a:srgbClr val="E8A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" y="5202936"/>
            <a:ext cx="40640" cy="96012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5312664"/>
            <a:ext cx="297180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2000" b="1" i="0">
                <a:solidFill>
                  <a:srgbClr val="F5F7FA"/>
                </a:solidFill>
                <a:latin typeface="Segoe UI"/>
              </a:rPr>
              <a:t>%25 (~$4,4 Mlyr)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1050" b="0" i="0">
                <a:solidFill>
                  <a:srgbClr val="9AA5B8"/>
                </a:solidFill>
                <a:latin typeface="Segoe UI"/>
              </a:rPr>
              <a:t>İndie oyunların Steam gelirindeki payı (2025)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06240" y="1828800"/>
            <a:ext cx="7406640" cy="416052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1993392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B222E"/>
                </a:solidFill>
                <a:latin typeface="Segoe UI"/>
              </a:rPr>
              <a:t>Steam Platform Geliri vs İndie Payı (milyar $, 2025)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4480560" y="2423160"/>
          <a:ext cx="685800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4480560" y="5577840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556070"/>
                </a:solidFill>
                <a:latin typeface="Segoe UI"/>
              </a:rPr>
              <a:t>İndie oyunlar Steam'in toplam gelirinin %25'ini oluşturuyor · CatWars, Steam'de bu indie segmentinde yarışacak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BC8C0"/>
                </a:solidFill>
                <a:latin typeface="Segoe UI"/>
              </a:rPr>
              <a:t>BÖLÜM 3 · RAKIP ANALIZI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5F7FA"/>
                </a:solidFill>
                <a:latin typeface="Segoe UI"/>
              </a:rPr>
              <a:t>Rakip #1 — OpenFront.io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298448"/>
            <a:ext cx="822960" cy="40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9AA5B8"/>
                </a:solidFill>
                <a:latin typeface="Segoe UI"/>
              </a:rPr>
              <a:t>CatWars'ın tasarım ilham kaynağı ve Steam'de karşılaşacağı en büyük doğrudan rakip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678"/>
                </a:solidFill>
                <a:latin typeface="Segoe UI"/>
              </a:rPr>
              <a:t>CatWars  •  Pazar ve Rakip Analizi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6678"/>
                </a:solidFill>
                <a:latin typeface="Segoe UI"/>
              </a:rPr>
              <a:t>07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783080"/>
            <a:ext cx="3749039" cy="274320"/>
          </a:xfrm>
          <a:prstGeom prst="roundRect">
            <a:avLst/>
          </a:prstGeom>
          <a:solidFill>
            <a:srgbClr val="5BC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78308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1B222E"/>
                </a:solidFill>
                <a:latin typeface="Segoe UI"/>
              </a:rPr>
              <a:t>  TARAYICI + STEAM (Erken Erişim, Ç3 2026)  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783080"/>
            <a:ext cx="2651760" cy="274320"/>
          </a:xfrm>
          <a:prstGeom prst="round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78308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1B222E"/>
                </a:solidFill>
                <a:latin typeface="Segoe UI"/>
              </a:rPr>
              <a:t>  REKLAM + PREMIUM ABONELİK  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69480" y="1783080"/>
            <a:ext cx="1463040" cy="274320"/>
          </a:xfrm>
          <a:prstGeom prst="roundRect">
            <a:avLst/>
          </a:prstGeom>
          <a:solidFill>
            <a:srgbClr val="C79A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80" y="17830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1B222E"/>
                </a:solidFill>
                <a:latin typeface="Segoe UI"/>
              </a:rPr>
              <a:t>  AÇIK KAYNAK  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2286000"/>
            <a:ext cx="2542032" cy="914400"/>
          </a:xfrm>
          <a:prstGeom prst="rect">
            <a:avLst/>
          </a:prstGeom>
          <a:solidFill>
            <a:srgbClr val="1D283D"/>
          </a:solidFill>
          <a:ln w="9525">
            <a:solidFill>
              <a:srgbClr val="5B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2286000"/>
            <a:ext cx="40640" cy="914400"/>
          </a:xfrm>
          <a:prstGeom prst="rect">
            <a:avLst/>
          </a:prstGeom>
          <a:solidFill>
            <a:srgbClr val="5BC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2395728"/>
            <a:ext cx="226771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900" b="1" i="0">
                <a:solidFill>
                  <a:srgbClr val="F5F7FA"/>
                </a:solidFill>
                <a:latin typeface="Segoe UI"/>
              </a:rPr>
              <a:t>200-250 Bin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1050" b="0" i="0">
                <a:solidFill>
                  <a:srgbClr val="9AA5B8"/>
                </a:solidFill>
                <a:latin typeface="Segoe UI"/>
              </a:rPr>
              <a:t>günlük aktif oyuncu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37560" y="2286000"/>
            <a:ext cx="2542032" cy="914400"/>
          </a:xfrm>
          <a:prstGeom prst="rect">
            <a:avLst/>
          </a:prstGeom>
          <a:solidFill>
            <a:srgbClr val="1D283D"/>
          </a:solidFill>
          <a:ln w="9525">
            <a:solidFill>
              <a:srgbClr val="5B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37560" y="2286000"/>
            <a:ext cx="40640" cy="914400"/>
          </a:xfrm>
          <a:prstGeom prst="rect">
            <a:avLst/>
          </a:prstGeom>
          <a:solidFill>
            <a:srgbClr val="5BC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02152" y="2395728"/>
            <a:ext cx="226771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900" b="1" i="0">
                <a:solidFill>
                  <a:srgbClr val="F5F7FA"/>
                </a:solidFill>
                <a:latin typeface="Segoe UI"/>
              </a:rPr>
              <a:t>65-70 Mlyr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1050" b="0" i="0">
                <a:solidFill>
                  <a:srgbClr val="9AA5B8"/>
                </a:solidFill>
                <a:latin typeface="Segoe UI"/>
              </a:rPr>
              <a:t>aylık reklam gösterimi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3364992"/>
            <a:ext cx="2542032" cy="914400"/>
          </a:xfrm>
          <a:prstGeom prst="rect">
            <a:avLst/>
          </a:prstGeom>
          <a:solidFill>
            <a:srgbClr val="1D283D"/>
          </a:solidFill>
          <a:ln w="9525">
            <a:solidFill>
              <a:srgbClr val="5B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4360" y="3364992"/>
            <a:ext cx="40640" cy="914400"/>
          </a:xfrm>
          <a:prstGeom prst="rect">
            <a:avLst/>
          </a:prstGeom>
          <a:solidFill>
            <a:srgbClr val="5BC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3474720"/>
            <a:ext cx="226771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900" b="1" i="0">
                <a:solidFill>
                  <a:srgbClr val="F5F7FA"/>
                </a:solidFill>
                <a:latin typeface="Segoe UI"/>
              </a:rPr>
              <a:t>%100 artış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1050" b="0" i="0">
                <a:solidFill>
                  <a:srgbClr val="9AA5B8"/>
                </a:solidFill>
                <a:latin typeface="Segoe UI"/>
              </a:rPr>
              <a:t>reklam geliri, 2 ay içinde (Playwire ile)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37560" y="3364992"/>
            <a:ext cx="2542032" cy="914400"/>
          </a:xfrm>
          <a:prstGeom prst="rect">
            <a:avLst/>
          </a:prstGeom>
          <a:solidFill>
            <a:srgbClr val="1D283D"/>
          </a:solidFill>
          <a:ln w="9525">
            <a:solidFill>
              <a:srgbClr val="5B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37560" y="3364992"/>
            <a:ext cx="40640" cy="914400"/>
          </a:xfrm>
          <a:prstGeom prst="rect">
            <a:avLst/>
          </a:prstGeom>
          <a:solidFill>
            <a:srgbClr val="5BC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02152" y="3474720"/>
            <a:ext cx="226771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900" b="1" i="0">
                <a:solidFill>
                  <a:srgbClr val="F5F7FA"/>
                </a:solidFill>
                <a:latin typeface="Segoe UI"/>
              </a:rPr>
              <a:t>300+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1050" b="0" i="0">
                <a:solidFill>
                  <a:srgbClr val="9AA5B8"/>
                </a:solidFill>
                <a:latin typeface="Segoe UI"/>
              </a:rPr>
              <a:t>açık kaynak topluluk katkıcısı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28600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A33D"/>
                </a:solidFill>
                <a:latin typeface="Segoe UI"/>
              </a:rPr>
              <a:t>NEDEN ÖNEMLİ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2633472"/>
            <a:ext cx="52120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250" b="0" i="0">
                <a:solidFill>
                  <a:srgbClr val="F5F7FA"/>
                </a:solidFill>
                <a:latin typeface="Segoe UI"/>
              </a:rPr>
              <a:t>territorial.io'nun mekaniklerini alıp derinleştirdi: gerçek dünya haritaları, ittifak, nükleer silah, tren sistemi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250" b="0" i="0">
                <a:solidFill>
                  <a:srgbClr val="F5F7FA"/>
                </a:solidFill>
                <a:latin typeface="Segoe UI"/>
              </a:rPr>
              <a:t>Tamamen açık kaynak (GitHub) — CatWars'ın da izlediği yol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250" b="1" i="0">
                <a:solidFill>
                  <a:srgbClr val="F5F7FA"/>
                </a:solidFill>
                <a:latin typeface="Segoe UI"/>
              </a:rPr>
              <a:t>Ç3 2026'da Steam Erken Erişim'e çıkıyor </a:t>
            </a:r>
            <a:r>
              <a:rPr sz="1250" b="0" i="0">
                <a:solidFill>
                  <a:srgbClr val="F5F7FA"/>
                </a:solidFill>
                <a:latin typeface="Segoe UI"/>
              </a:rPr>
              <a:t>(~96,6 Bin istek listesi) — CatWars ile AYNI platformda, muhtemelen aynı dönemde rekabet edecek (bkz. Riskler)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250" b="0" i="0">
                <a:solidFill>
                  <a:srgbClr val="F5F7FA"/>
                </a:solidFill>
                <a:latin typeface="Segoe UI"/>
              </a:rPr>
              <a:t>Kanıt: doğru derinlik + doğru reklam ortaklığıyla bu oynanış 200 Bin+ günlük kullanıcıya ulaşabiliyor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BC8C0"/>
                </a:solidFill>
                <a:latin typeface="Segoe UI"/>
              </a:rPr>
              <a:t>BÖLÜM 3 · RAKIP ANALIZI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5F7FA"/>
                </a:solidFill>
                <a:latin typeface="Segoe UI"/>
              </a:rPr>
              <a:t>Tasarım Kökeni — territorial.io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298448"/>
            <a:ext cx="822960" cy="40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9AA5B8"/>
                </a:solidFill>
                <a:latin typeface="Segoe UI"/>
              </a:rPr>
              <a:t>Türün öncüsü ve mekanik esin kaynağı; Steam'e hiç taşınmadı, OpenFront.io tarafından ölçekte geride bırakıldı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678"/>
                </a:solidFill>
                <a:latin typeface="Segoe UI"/>
              </a:rPr>
              <a:t>CatWars  •  Pazar ve Rakip Analizi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6678"/>
                </a:solidFill>
                <a:latin typeface="Segoe UI"/>
              </a:rPr>
              <a:t>08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783080"/>
            <a:ext cx="2743200" cy="274320"/>
          </a:xfrm>
          <a:prstGeom prst="roundRect">
            <a:avLst/>
          </a:prstGeom>
          <a:solidFill>
            <a:srgbClr val="5BC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783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1B222E"/>
                </a:solidFill>
                <a:latin typeface="Segoe UI"/>
              </a:rPr>
              <a:t>  TARAYICI + MOBİL UYGULAMA  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1783080"/>
            <a:ext cx="2194560" cy="274320"/>
          </a:xfrm>
          <a:prstGeom prst="round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7830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1B222E"/>
                </a:solidFill>
                <a:latin typeface="Segoe UI"/>
              </a:rPr>
              <a:t>  SADECE REKLAM (AdMob)  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1783080"/>
            <a:ext cx="1737360" cy="274320"/>
          </a:xfrm>
          <a:prstGeom prst="roundRect">
            <a:avLst/>
          </a:prstGeom>
          <a:solidFill>
            <a:srgbClr val="92E9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178308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1B222E"/>
                </a:solidFill>
                <a:latin typeface="Segoe UI"/>
              </a:rPr>
              <a:t>  PAY-TO-WIN YOK  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2286000"/>
            <a:ext cx="2542032" cy="914400"/>
          </a:xfrm>
          <a:prstGeom prst="rect">
            <a:avLst/>
          </a:prstGeom>
          <a:solidFill>
            <a:srgbClr val="1D283D"/>
          </a:solidFill>
          <a:ln w="9525">
            <a:solidFill>
              <a:srgbClr val="92E9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2286000"/>
            <a:ext cx="40640" cy="914400"/>
          </a:xfrm>
          <a:prstGeom prst="rect">
            <a:avLst/>
          </a:prstGeom>
          <a:solidFill>
            <a:srgbClr val="92E9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2395728"/>
            <a:ext cx="226771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800" b="1" i="0">
                <a:solidFill>
                  <a:srgbClr val="F5F7FA"/>
                </a:solidFill>
                <a:latin typeface="Segoe UI"/>
              </a:rPr>
              <a:t>~300-376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1000" b="0" i="0">
                <a:solidFill>
                  <a:srgbClr val="9AA5B8"/>
                </a:solidFill>
                <a:latin typeface="Segoe UI"/>
              </a:rPr>
              <a:t>eşzamanlı oyuncu zirvesi (2021 verisi)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37560" y="2286000"/>
            <a:ext cx="2542032" cy="914400"/>
          </a:xfrm>
          <a:prstGeom prst="rect">
            <a:avLst/>
          </a:prstGeom>
          <a:solidFill>
            <a:srgbClr val="1D283D"/>
          </a:solidFill>
          <a:ln w="9525">
            <a:solidFill>
              <a:srgbClr val="92E9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37560" y="2286000"/>
            <a:ext cx="40640" cy="914400"/>
          </a:xfrm>
          <a:prstGeom prst="rect">
            <a:avLst/>
          </a:prstGeom>
          <a:solidFill>
            <a:srgbClr val="92E9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02152" y="2395728"/>
            <a:ext cx="226771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800" b="1" i="0">
                <a:solidFill>
                  <a:srgbClr val="F5F7FA"/>
                </a:solidFill>
                <a:latin typeface="Segoe UI"/>
              </a:rPr>
              <a:t>#~47 Bin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1000" b="0" i="0">
                <a:solidFill>
                  <a:srgbClr val="9AA5B8"/>
                </a:solidFill>
                <a:latin typeface="Segoe UI"/>
              </a:rPr>
              <a:t>küresel Similarweb sıralaması (Kas. 2025)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3364992"/>
            <a:ext cx="2542032" cy="914400"/>
          </a:xfrm>
          <a:prstGeom prst="rect">
            <a:avLst/>
          </a:prstGeom>
          <a:solidFill>
            <a:srgbClr val="1D283D"/>
          </a:solidFill>
          <a:ln w="9525">
            <a:solidFill>
              <a:srgbClr val="92E9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4360" y="3364992"/>
            <a:ext cx="40640" cy="914400"/>
          </a:xfrm>
          <a:prstGeom prst="rect">
            <a:avLst/>
          </a:prstGeom>
          <a:solidFill>
            <a:srgbClr val="92E9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3474720"/>
            <a:ext cx="226771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800" b="1" i="0">
                <a:solidFill>
                  <a:srgbClr val="F5F7FA"/>
                </a:solidFill>
                <a:latin typeface="Segoe UI"/>
              </a:rPr>
              <a:t>Serbest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1000" b="0" i="0">
                <a:solidFill>
                  <a:srgbClr val="9AA5B8"/>
                </a:solidFill>
                <a:latin typeface="Segoe UI"/>
              </a:rPr>
              <a:t>lisans, ücretsiz, IAP yok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37560" y="3364992"/>
            <a:ext cx="2542032" cy="914400"/>
          </a:xfrm>
          <a:prstGeom prst="rect">
            <a:avLst/>
          </a:prstGeom>
          <a:solidFill>
            <a:srgbClr val="1D283D"/>
          </a:solidFill>
          <a:ln w="9525">
            <a:solidFill>
              <a:srgbClr val="92E9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37560" y="3364992"/>
            <a:ext cx="40640" cy="914400"/>
          </a:xfrm>
          <a:prstGeom prst="rect">
            <a:avLst/>
          </a:prstGeom>
          <a:solidFill>
            <a:srgbClr val="92E9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02152" y="3474720"/>
            <a:ext cx="226771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800" b="1" i="0">
                <a:solidFill>
                  <a:srgbClr val="F5F7FA"/>
                </a:solidFill>
                <a:latin typeface="Segoe UI"/>
              </a:rPr>
              <a:t>Steam'de yok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1000" b="0" i="0">
                <a:solidFill>
                  <a:srgbClr val="9AA5B8"/>
                </a:solidFill>
                <a:latin typeface="Segoe UI"/>
              </a:rPr>
              <a:t>sadece tarayıcı + mobil uygulama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28600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A33D"/>
                </a:solidFill>
                <a:latin typeface="Segoe UI"/>
              </a:rPr>
              <a:t>KATEGORİ İÇİN ÇIKARIM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2633472"/>
            <a:ext cx="52120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250" b="0" i="0">
                <a:solidFill>
                  <a:srgbClr val="F5F7FA"/>
                </a:solidFill>
                <a:latin typeface="Segoe UI"/>
              </a:rPr>
              <a:t>territorial.io basit mekaniklerde kaldı; OpenFront.io aynı temel fikri gerçek haritalar, ittifaklar ve ekonomiyle genişletip Steam'e taşıdı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250" b="0" i="0">
                <a:solidFill>
                  <a:srgbClr val="F5F7FA"/>
                </a:solidFill>
                <a:latin typeface="Segoe UI"/>
              </a:rPr>
              <a:t>Sonuç: türün "kurucusu" hem ölçekte geride hem de Steam'de yok — derinlik eklemeden büyümek zorlaşıyor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250" b="0" i="0">
                <a:solidFill>
                  <a:srgbClr val="F5F7FA"/>
                </a:solidFill>
                <a:latin typeface="Segoe UI"/>
              </a:rPr>
              <a:t>CatWars için sinyal: sadece territorial.io'yu kopyalamak yetmez, OpenFront çizgisindeki sistemik derinlik (liman, savaş gemisi — zaten var) Steam'de rekabet için gerekli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BC8C0"/>
                </a:solidFill>
                <a:latin typeface="Segoe UI"/>
              </a:rPr>
              <a:t>BÖLÜM 3 · RAKIP ANALIZI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5F7FA"/>
                </a:solidFill>
                <a:latin typeface="Segoe UI"/>
              </a:rPr>
              <a:t>Tasarım Kökeni: .io Ailesi (Steam'de Değil)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298448"/>
            <a:ext cx="822960" cy="40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9AA5B8"/>
                </a:solidFill>
                <a:latin typeface="Segoe UI"/>
              </a:rPr>
              <a:t>Mekanik/tarihsel referanslar — CatWars'ın Steam'deki doğrudan rakip seti değil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678"/>
                </a:solidFill>
                <a:latin typeface="Segoe UI"/>
              </a:rPr>
              <a:t>CatWars  •  Pazar ve Rakip Analizi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6678"/>
                </a:solidFill>
                <a:latin typeface="Segoe UI"/>
              </a:rPr>
              <a:t>09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828800"/>
            <a:ext cx="3456432" cy="4206240"/>
          </a:xfrm>
          <a:prstGeom prst="rect">
            <a:avLst/>
          </a:prstGeom>
          <a:solidFill>
            <a:srgbClr val="16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828800"/>
            <a:ext cx="3456432" cy="63500"/>
          </a:xfrm>
          <a:prstGeom prst="rect">
            <a:avLst/>
          </a:prstGeom>
          <a:solidFill>
            <a:srgbClr val="9AC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29968"/>
            <a:ext cx="29992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5F7FA"/>
                </a:solidFill>
                <a:latin typeface="Segoe UI"/>
              </a:rPr>
              <a:t>Generals.io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95728"/>
            <a:ext cx="299923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9AA5B8"/>
                </a:solidFill>
                <a:latin typeface="Segoe UI"/>
              </a:rPr>
              <a:t>Risk-benzeri, grid tabanlı, keşif+savaş odaklı ücretsiz strateji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017520"/>
            <a:ext cx="2999232" cy="868680"/>
          </a:xfrm>
          <a:prstGeom prst="rect">
            <a:avLst/>
          </a:prstGeom>
          <a:solidFill>
            <a:srgbClr val="1D283D"/>
          </a:solidFill>
          <a:ln w="9525">
            <a:solidFill>
              <a:srgbClr val="9AC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3017520"/>
            <a:ext cx="40640" cy="868680"/>
          </a:xfrm>
          <a:prstGeom prst="rect">
            <a:avLst/>
          </a:prstGeom>
          <a:solidFill>
            <a:srgbClr val="9AC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127248"/>
            <a:ext cx="2724912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600" b="1" i="0">
                <a:solidFill>
                  <a:srgbClr val="F5F7FA"/>
                </a:solidFill>
                <a:latin typeface="Segoe UI"/>
              </a:rPr>
              <a:t>Ücretsiz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950" b="0" i="0">
                <a:solidFill>
                  <a:srgbClr val="9AA5B8"/>
                </a:solidFill>
                <a:latin typeface="Segoe UI"/>
              </a:rPr>
              <a:t>indirmesiz, kayıtsız oynanır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041648"/>
            <a:ext cx="2999232" cy="868680"/>
          </a:xfrm>
          <a:prstGeom prst="rect">
            <a:avLst/>
          </a:prstGeom>
          <a:solidFill>
            <a:srgbClr val="1D283D"/>
          </a:solidFill>
          <a:ln w="9525">
            <a:solidFill>
              <a:srgbClr val="9AC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41648"/>
            <a:ext cx="40640" cy="868680"/>
          </a:xfrm>
          <a:prstGeom prst="rect">
            <a:avLst/>
          </a:prstGeom>
          <a:solidFill>
            <a:srgbClr val="9AC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4151376"/>
            <a:ext cx="2724912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600" b="1" i="0">
                <a:solidFill>
                  <a:srgbClr val="F5F7FA"/>
                </a:solidFill>
                <a:latin typeface="Segoe UI"/>
              </a:rPr>
              <a:t>Niş topluluk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950" b="0" i="0">
                <a:solidFill>
                  <a:srgbClr val="9AA5B8"/>
                </a:solidFill>
                <a:latin typeface="Segoe UI"/>
              </a:rPr>
              <a:t>aktif rekabetçi oyuncu kitlesi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06824" y="1828800"/>
            <a:ext cx="3456432" cy="4206240"/>
          </a:xfrm>
          <a:prstGeom prst="rect">
            <a:avLst/>
          </a:prstGeom>
          <a:solidFill>
            <a:srgbClr val="16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06824" y="1828800"/>
            <a:ext cx="3456432" cy="63500"/>
          </a:xfrm>
          <a:prstGeom prst="rect">
            <a:avLst/>
          </a:prstGeom>
          <a:solidFill>
            <a:srgbClr val="E9D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35424" y="2029968"/>
            <a:ext cx="29992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5F7FA"/>
                </a:solidFill>
                <a:latin typeface="Segoe UI"/>
              </a:rPr>
              <a:t>Diep.io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5424" y="2395728"/>
            <a:ext cx="299923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9AA5B8"/>
                </a:solidFill>
                <a:latin typeface="Segoe UI"/>
              </a:rPr>
              <a:t>Tank/shape-eater .io shooter — türün viral patlamasını başlatan oyunlardan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35424" y="3017520"/>
            <a:ext cx="2999232" cy="868680"/>
          </a:xfrm>
          <a:prstGeom prst="rect">
            <a:avLst/>
          </a:prstGeom>
          <a:solidFill>
            <a:srgbClr val="1D283D"/>
          </a:solidFill>
          <a:ln w="9525">
            <a:solidFill>
              <a:srgbClr val="E9D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35424" y="3017520"/>
            <a:ext cx="40640" cy="868680"/>
          </a:xfrm>
          <a:prstGeom prst="rect">
            <a:avLst/>
          </a:prstGeom>
          <a:solidFill>
            <a:srgbClr val="E9D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0016" y="3127248"/>
            <a:ext cx="2724912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600" b="1" i="0">
                <a:solidFill>
                  <a:srgbClr val="F5F7FA"/>
                </a:solidFill>
                <a:latin typeface="Segoe UI"/>
              </a:rPr>
              <a:t>10 Mlyr+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950" b="0" i="0">
                <a:solidFill>
                  <a:srgbClr val="9AA5B8"/>
                </a:solidFill>
                <a:latin typeface="Segoe UI"/>
              </a:rPr>
              <a:t>mobil indirme (2023 itibarıyla)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35424" y="4041648"/>
            <a:ext cx="2999232" cy="868680"/>
          </a:xfrm>
          <a:prstGeom prst="rect">
            <a:avLst/>
          </a:prstGeom>
          <a:solidFill>
            <a:srgbClr val="1D283D"/>
          </a:solidFill>
          <a:ln w="9525">
            <a:solidFill>
              <a:srgbClr val="E9D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35424" y="4041648"/>
            <a:ext cx="40640" cy="868680"/>
          </a:xfrm>
          <a:prstGeom prst="rect">
            <a:avLst/>
          </a:prstGeom>
          <a:solidFill>
            <a:srgbClr val="E9D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0016" y="4151376"/>
            <a:ext cx="2724912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600" b="1" i="0">
                <a:solidFill>
                  <a:srgbClr val="F5F7FA"/>
                </a:solidFill>
                <a:latin typeface="Segoe UI"/>
              </a:rPr>
              <a:t>1,6 Mlyr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950" b="0" i="0">
                <a:solidFill>
                  <a:srgbClr val="9AA5B8"/>
                </a:solidFill>
                <a:latin typeface="Segoe UI"/>
              </a:rPr>
              <a:t>aylık web ziyareti (2026)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19288" y="1828800"/>
            <a:ext cx="3456432" cy="4206240"/>
          </a:xfrm>
          <a:prstGeom prst="rect">
            <a:avLst/>
          </a:prstGeom>
          <a:solidFill>
            <a:srgbClr val="16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19288" y="1828800"/>
            <a:ext cx="3456432" cy="63500"/>
          </a:xfrm>
          <a:prstGeom prst="rect">
            <a:avLst/>
          </a:prstGeom>
          <a:solidFill>
            <a:srgbClr val="C79A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47888" y="2029968"/>
            <a:ext cx="29992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5F7FA"/>
                </a:solidFill>
                <a:latin typeface="Segoe UI"/>
              </a:rPr>
              <a:t>Paper.io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2395728"/>
            <a:ext cx="299923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9AA5B8"/>
                </a:solidFill>
                <a:latin typeface="Segoe UI"/>
              </a:rPr>
              <a:t>Voodoo tarafından mobile taşınan toprak-boyama .io oyunu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47888" y="3017520"/>
            <a:ext cx="2999232" cy="868680"/>
          </a:xfrm>
          <a:prstGeom prst="rect">
            <a:avLst/>
          </a:prstGeom>
          <a:solidFill>
            <a:srgbClr val="1D283D"/>
          </a:solidFill>
          <a:ln w="9525">
            <a:solidFill>
              <a:srgbClr val="C79A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47888" y="3017520"/>
            <a:ext cx="40640" cy="868680"/>
          </a:xfrm>
          <a:prstGeom prst="rect">
            <a:avLst/>
          </a:prstGeom>
          <a:solidFill>
            <a:srgbClr val="C79A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0" y="3127248"/>
            <a:ext cx="2724912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600" b="1" i="0">
                <a:solidFill>
                  <a:srgbClr val="F5F7FA"/>
                </a:solidFill>
                <a:latin typeface="Segoe UI"/>
              </a:rPr>
              <a:t>Voodoo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950" b="0" i="0">
                <a:solidFill>
                  <a:srgbClr val="9AA5B8"/>
                </a:solidFill>
                <a:latin typeface="Segoe UI"/>
              </a:rPr>
              <a:t>yayıncı — .io oyunlarını mobil reklam gelirine uyarladı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47888" y="4041648"/>
            <a:ext cx="2999232" cy="868680"/>
          </a:xfrm>
          <a:prstGeom prst="rect">
            <a:avLst/>
          </a:prstGeom>
          <a:solidFill>
            <a:srgbClr val="1D283D"/>
          </a:solidFill>
          <a:ln w="9525">
            <a:solidFill>
              <a:srgbClr val="C79A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47888" y="4041648"/>
            <a:ext cx="40640" cy="868680"/>
          </a:xfrm>
          <a:prstGeom prst="rect">
            <a:avLst/>
          </a:prstGeom>
          <a:solidFill>
            <a:srgbClr val="C79A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4151376"/>
            <a:ext cx="2724912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600" b="1" i="0">
                <a:solidFill>
                  <a:srgbClr val="F5F7FA"/>
                </a:solidFill>
                <a:latin typeface="Segoe UI"/>
              </a:rPr>
              <a:t>En popülerler arasında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950" b="0" i="0">
                <a:solidFill>
                  <a:srgbClr val="9AA5B8"/>
                </a:solidFill>
                <a:latin typeface="Segoe UI"/>
              </a:rPr>
              <a:t>kategori içinde referans başarı örneği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1722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9AA5B8"/>
                </a:solidFill>
                <a:latin typeface="Segoe UI"/>
              </a:rPr>
              <a:t>Ortak payda: basit görsel + anlık başlangıç + reklam tabanlı gelir — CatWars'ın mekanik kökeni burada, ama iş modeli ve dağıtım kanalı (Steam, PC) farklı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BC8C0"/>
                </a:solidFill>
                <a:latin typeface="Segoe UI"/>
              </a:rPr>
              <a:t>BÖLÜM 3 · RAKIP ANALIZI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5F7FA"/>
                </a:solidFill>
                <a:latin typeface="Segoe UI"/>
              </a:rPr>
              <a:t>Kültürel Referans — Risk (Hasbro)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298448"/>
            <a:ext cx="822960" cy="40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9AA5B8"/>
                </a:solidFill>
                <a:latin typeface="Segoe UI"/>
              </a:rPr>
              <a:t>Toprak fetih + zar tabanlı savaş kavramının 1957'den beri süregelen kültürel atası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678"/>
                </a:solidFill>
                <a:latin typeface="Segoe UI"/>
              </a:rPr>
              <a:t>CatWars  •  Pazar ve Rakip Analizi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6678"/>
                </a:solidFill>
                <a:latin typeface="Segoe UI"/>
              </a:rPr>
              <a:t>10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828800"/>
            <a:ext cx="2542032" cy="960120"/>
          </a:xfrm>
          <a:prstGeom prst="rect">
            <a:avLst/>
          </a:prstGeom>
          <a:solidFill>
            <a:srgbClr val="1D283D"/>
          </a:solidFill>
          <a:ln w="9525">
            <a:solidFill>
              <a:srgbClr val="E99A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828800"/>
            <a:ext cx="40640" cy="960120"/>
          </a:xfrm>
          <a:prstGeom prst="rect">
            <a:avLst/>
          </a:prstGeom>
          <a:solidFill>
            <a:srgbClr val="E99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938528"/>
            <a:ext cx="2267712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900" b="1" i="0">
                <a:solidFill>
                  <a:srgbClr val="F5F7FA"/>
                </a:solidFill>
                <a:latin typeface="Segoe UI"/>
              </a:rPr>
              <a:t>$3,25 Mlyr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1000" b="0" i="0">
                <a:solidFill>
                  <a:srgbClr val="9AA5B8"/>
                </a:solidFill>
                <a:latin typeface="Segoe UI"/>
              </a:rPr>
              <a:t>Hasbro lisanslı oyunlar toplam geliri (son 12 ay)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828800"/>
            <a:ext cx="2542032" cy="960120"/>
          </a:xfrm>
          <a:prstGeom prst="rect">
            <a:avLst/>
          </a:prstGeom>
          <a:solidFill>
            <a:srgbClr val="1D283D"/>
          </a:solidFill>
          <a:ln w="9525">
            <a:solidFill>
              <a:srgbClr val="E99A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828800"/>
            <a:ext cx="40640" cy="960120"/>
          </a:xfrm>
          <a:prstGeom prst="rect">
            <a:avLst/>
          </a:prstGeom>
          <a:solidFill>
            <a:srgbClr val="E99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2152" y="1938528"/>
            <a:ext cx="2267712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900" b="1" i="0">
                <a:solidFill>
                  <a:srgbClr val="F5F7FA"/>
                </a:solidFill>
                <a:latin typeface="Segoe UI"/>
              </a:rPr>
              <a:t>$2,48 Mlyr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1000" b="0" i="0">
                <a:solidFill>
                  <a:srgbClr val="9AA5B8"/>
                </a:solidFill>
                <a:latin typeface="Segoe UI"/>
              </a:rPr>
              <a:t>karşılaştırma: Monopoly, Hasbro'nun lider franchise'ı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2971800"/>
            <a:ext cx="2542032" cy="960120"/>
          </a:xfrm>
          <a:prstGeom prst="rect">
            <a:avLst/>
          </a:prstGeom>
          <a:solidFill>
            <a:srgbClr val="1D283D"/>
          </a:solidFill>
          <a:ln w="9525">
            <a:solidFill>
              <a:srgbClr val="E99A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2971800"/>
            <a:ext cx="40640" cy="960120"/>
          </a:xfrm>
          <a:prstGeom prst="rect">
            <a:avLst/>
          </a:prstGeom>
          <a:solidFill>
            <a:srgbClr val="E99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081528"/>
            <a:ext cx="2267712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900" b="1" i="0">
                <a:solidFill>
                  <a:srgbClr val="F5F7FA"/>
                </a:solidFill>
                <a:latin typeface="Segoe UI"/>
              </a:rPr>
              <a:t>21.620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1000" b="0" i="0">
                <a:solidFill>
                  <a:srgbClr val="9AA5B8"/>
                </a:solidFill>
                <a:latin typeface="Segoe UI"/>
              </a:rPr>
              <a:t>RISK: Global Domination Steam yorumu (%76 olumlu)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37560" y="2971800"/>
            <a:ext cx="2542032" cy="960120"/>
          </a:xfrm>
          <a:prstGeom prst="rect">
            <a:avLst/>
          </a:prstGeom>
          <a:solidFill>
            <a:srgbClr val="1D283D"/>
          </a:solidFill>
          <a:ln w="9525">
            <a:solidFill>
              <a:srgbClr val="E99A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37560" y="2971800"/>
            <a:ext cx="40640" cy="960120"/>
          </a:xfrm>
          <a:prstGeom prst="rect">
            <a:avLst/>
          </a:prstGeom>
          <a:solidFill>
            <a:srgbClr val="E99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02152" y="3081528"/>
            <a:ext cx="2267712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900" b="1" i="0">
                <a:solidFill>
                  <a:srgbClr val="F5F7FA"/>
                </a:solidFill>
                <a:latin typeface="Segoe UI"/>
              </a:rPr>
              <a:t>~10 yıl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1000" b="0" i="0">
                <a:solidFill>
                  <a:srgbClr val="9AA5B8"/>
                </a:solidFill>
                <a:latin typeface="Segoe UI"/>
              </a:rPr>
              <a:t>RISK: Global Domination'ın canlı güncelleme süresi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82880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A33D"/>
                </a:solidFill>
                <a:latin typeface="Segoe UI"/>
              </a:rPr>
              <a:t>İKİ KATMAN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176272"/>
            <a:ext cx="52120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200" b="1" i="0">
                <a:solidFill>
                  <a:srgbClr val="F5F7FA"/>
                </a:solidFill>
                <a:latin typeface="Segoe UI"/>
              </a:rPr>
              <a:t>Fiziksel masa oyunu: </a:t>
            </a:r>
            <a:r>
              <a:rPr sz="1200" b="0" i="0">
                <a:solidFill>
                  <a:srgbClr val="F5F7FA"/>
                </a:solidFill>
                <a:latin typeface="Segoe UI"/>
              </a:rPr>
              <a:t>Hasbro'nun klasik portföyünün parçası; Risk için ayrı gelir raporlanmıyor, ama lisanslı oyunlar kategorisi milyar dolarlık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200" b="1" i="0">
                <a:solidFill>
                  <a:srgbClr val="F5F7FA"/>
                </a:solidFill>
                <a:latin typeface="Segoe UI"/>
              </a:rPr>
              <a:t>RISK: Global Domination: </a:t>
            </a:r>
            <a:r>
              <a:rPr sz="1200" b="0" i="0">
                <a:solidFill>
                  <a:srgbClr val="F5F7FA"/>
                </a:solidFill>
                <a:latin typeface="Segoe UI"/>
              </a:rPr>
              <a:t>SMG Studio'nun Hasbro lisanslı, ücretsiz dijital uyarlaması (Steam + mobil)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25196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A33D"/>
                </a:solidFill>
                <a:latin typeface="Segoe UI"/>
              </a:rPr>
              <a:t>KATEGORİ İÇİN ÇIKARIM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590288"/>
            <a:ext cx="52120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20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200" b="0" i="0">
                <a:solidFill>
                  <a:srgbClr val="F5F7FA"/>
                </a:solidFill>
                <a:latin typeface="Segoe UI"/>
              </a:rPr>
              <a:t>Risk IP'si, toprak-fetih temasının onlarca yıllık kültürel kanıtı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20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200" b="0" i="0">
                <a:solidFill>
                  <a:srgbClr val="F5F7FA"/>
                </a:solidFill>
                <a:latin typeface="Segoe UI"/>
              </a:rPr>
              <a:t>CatWars/OpenFront çizgisi, bu klasik konsepti "gerçek-zamanlı, dijital-native" forma taşıyor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BC8C0"/>
                </a:solidFill>
                <a:latin typeface="Segoe UI"/>
              </a:rPr>
              <a:t>BÖLÜM 3 · RAKIP ANALIZI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5F7FA"/>
                </a:solidFill>
                <a:latin typeface="Segoe UI"/>
              </a:rPr>
              <a:t>Üst Segment — Supremacy 1914 (Bytro Labs)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298448"/>
            <a:ext cx="822960" cy="40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9AA5B8"/>
                </a:solidFill>
                <a:latin typeface="Segoe UI"/>
              </a:rPr>
              <a:t>Tarayıcı-tabanlı grand-strategy'nin uzun-vadeli gelir potansiyelini gösteren referans oyun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678"/>
                </a:solidFill>
                <a:latin typeface="Segoe UI"/>
              </a:rPr>
              <a:t>CatWars  •  Pazar ve Rakip Analizi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6678"/>
                </a:solidFill>
                <a:latin typeface="Segoe UI"/>
              </a:rPr>
              <a:t>11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828800"/>
            <a:ext cx="2542032" cy="960120"/>
          </a:xfrm>
          <a:prstGeom prst="rect">
            <a:avLst/>
          </a:prstGeom>
          <a:solidFill>
            <a:srgbClr val="1D283D"/>
          </a:solidFill>
          <a:ln w="9525">
            <a:solidFill>
              <a:srgbClr val="E8A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828800"/>
            <a:ext cx="40640" cy="96012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938528"/>
            <a:ext cx="2267712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900" b="1" i="0">
                <a:solidFill>
                  <a:srgbClr val="F5F7FA"/>
                </a:solidFill>
                <a:latin typeface="Segoe UI"/>
              </a:rPr>
              <a:t>2009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1000" b="0" i="0">
                <a:solidFill>
                  <a:srgbClr val="9AA5B8"/>
                </a:solidFill>
                <a:latin typeface="Segoe UI"/>
              </a:rPr>
              <a:t>yayın yılı — 15+ yıldır aktif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828800"/>
            <a:ext cx="2542032" cy="960120"/>
          </a:xfrm>
          <a:prstGeom prst="rect">
            <a:avLst/>
          </a:prstGeom>
          <a:solidFill>
            <a:srgbClr val="1D283D"/>
          </a:solidFill>
          <a:ln w="9525">
            <a:solidFill>
              <a:srgbClr val="E8A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828800"/>
            <a:ext cx="40640" cy="96012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2152" y="1938528"/>
            <a:ext cx="2267712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900" b="1" i="0">
                <a:solidFill>
                  <a:srgbClr val="F5F7FA"/>
                </a:solidFill>
                <a:latin typeface="Segoe UI"/>
              </a:rPr>
              <a:t>500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1000" b="0" i="0">
                <a:solidFill>
                  <a:srgbClr val="9AA5B8"/>
                </a:solidFill>
                <a:latin typeface="Segoe UI"/>
              </a:rPr>
              <a:t>harita başına maksimum oyuncu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2971800"/>
            <a:ext cx="2542032" cy="960120"/>
          </a:xfrm>
          <a:prstGeom prst="rect">
            <a:avLst/>
          </a:prstGeom>
          <a:solidFill>
            <a:srgbClr val="1D283D"/>
          </a:solidFill>
          <a:ln w="9525">
            <a:solidFill>
              <a:srgbClr val="E8A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2971800"/>
            <a:ext cx="40640" cy="96012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081528"/>
            <a:ext cx="2267712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900" b="1" i="0">
                <a:solidFill>
                  <a:srgbClr val="F5F7FA"/>
                </a:solidFill>
                <a:latin typeface="Segoe UI"/>
              </a:rPr>
              <a:t>~€20 Mlyr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1000" b="0" i="0">
                <a:solidFill>
                  <a:srgbClr val="9AA5B8"/>
                </a:solidFill>
                <a:latin typeface="Segoe UI"/>
              </a:rPr>
              <a:t>toplam brüt gelir (türünün en büyüğü)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37560" y="2971800"/>
            <a:ext cx="2542032" cy="960120"/>
          </a:xfrm>
          <a:prstGeom prst="rect">
            <a:avLst/>
          </a:prstGeom>
          <a:solidFill>
            <a:srgbClr val="1D283D"/>
          </a:solidFill>
          <a:ln w="9525">
            <a:solidFill>
              <a:srgbClr val="E8A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37560" y="2971800"/>
            <a:ext cx="40640" cy="96012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02152" y="3081528"/>
            <a:ext cx="2267712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900" b="1" i="0">
                <a:solidFill>
                  <a:srgbClr val="F5F7FA"/>
                </a:solidFill>
                <a:latin typeface="Segoe UI"/>
              </a:rPr>
              <a:t>3 platform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1000" b="0" i="0">
                <a:solidFill>
                  <a:srgbClr val="9AA5B8"/>
                </a:solidFill>
                <a:latin typeface="Segoe UI"/>
              </a:rPr>
              <a:t>Tarayıcı + Mobil (2018+) + Steam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82880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A33D"/>
                </a:solidFill>
                <a:latin typeface="Segoe UI"/>
              </a:rPr>
              <a:t>SERİ VE ETKİ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176272"/>
            <a:ext cx="5212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200" b="0" i="0">
                <a:solidFill>
                  <a:srgbClr val="F5F7FA"/>
                </a:solidFill>
                <a:latin typeface="Segoe UI"/>
              </a:rPr>
              <a:t>Bytro Labs bu modeli Call of War (1942 teması) ve Conflict of Nations: World War III ile genişletti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200" b="0" i="0">
                <a:solidFill>
                  <a:srgbClr val="F5F7FA"/>
                </a:solidFill>
                <a:latin typeface="Segoe UI"/>
              </a:rPr>
              <a:t>Kaynak yönetimi + diplomasi + ordu/donanma sistemleri — CatWars'ın planlanan ittifak/diplomasi fazına (Faz 11) doğrudan emsal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200" b="0" i="0">
                <a:solidFill>
                  <a:srgbClr val="F5F7FA"/>
                </a:solidFill>
                <a:latin typeface="Segoe UI"/>
              </a:rPr>
              <a:t>Günler/haftalar süren kampanyalar — ".io"nun anlık oturumundan çok farklı bir katılım modeli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52628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A33D"/>
                </a:solidFill>
                <a:latin typeface="Segoe UI"/>
              </a:rPr>
              <a:t>KATEGORİ İÇİN ÇIKARIM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864608"/>
            <a:ext cx="52120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20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200" b="0" i="0">
                <a:solidFill>
                  <a:srgbClr val="F5F7FA"/>
                </a:solidFill>
                <a:latin typeface="Segoe UI"/>
              </a:rPr>
              <a:t>Doğru derinlik ve çok-platformlu yayınla tarayıcı-strateji oyunları çok-milyon €'luk, çok-yıllı işlere dönüşebiliyor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BC8C0"/>
                </a:solidFill>
                <a:latin typeface="Segoe UI"/>
              </a:rPr>
              <a:t>BÖLÜM 3 · RAKIP ANALIZI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5F7FA"/>
                </a:solidFill>
                <a:latin typeface="Segoe UI"/>
              </a:rPr>
              <a:t>Ölçek Tavanı — Mobil 4X Strateji Devleri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298448"/>
            <a:ext cx="822960" cy="40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9AA5B8"/>
                </a:solidFill>
                <a:latin typeface="Segoe UI"/>
              </a:rPr>
              <a:t>Aynı "toprak fetih" temasının, mobil + derin IAP ile ulaşabileceği teorik tavan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678"/>
                </a:solidFill>
                <a:latin typeface="Segoe UI"/>
              </a:rPr>
              <a:t>CatWars  •  Pazar ve Rakip Analizi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6678"/>
                </a:solidFill>
                <a:latin typeface="Segoe UI"/>
              </a:rPr>
              <a:t>12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828800"/>
            <a:ext cx="6675120" cy="416052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93392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B222E"/>
                </a:solidFill>
                <a:latin typeface="Segoe UI"/>
              </a:rPr>
              <a:t>2025 Yıllık Gelir (milyon $)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868680" y="2423160"/>
          <a:ext cx="612648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68680" y="5605272"/>
            <a:ext cx="6126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556070"/>
                </a:solidFill>
                <a:latin typeface="Segoe UI"/>
              </a:rPr>
              <a:t>Not: Last War: Survival, 4X liderliğini yıllık %42,5 büyümeyle sürdürüyor (2025)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1828800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A33D"/>
                </a:solidFill>
                <a:latin typeface="Segoe UI"/>
              </a:rPr>
              <a:t>TÜR TOPLAMI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43800" y="2212848"/>
            <a:ext cx="4160520" cy="868680"/>
          </a:xfrm>
          <a:prstGeom prst="rect">
            <a:avLst/>
          </a:prstGeom>
          <a:solidFill>
            <a:srgbClr val="1D283D"/>
          </a:solidFill>
          <a:ln w="9525">
            <a:solidFill>
              <a:srgbClr val="E99A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43800" y="2212848"/>
            <a:ext cx="40640" cy="868680"/>
          </a:xfrm>
          <a:prstGeom prst="rect">
            <a:avLst/>
          </a:prstGeom>
          <a:solidFill>
            <a:srgbClr val="E99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8392" y="2322576"/>
            <a:ext cx="388620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1" i="0">
                <a:solidFill>
                  <a:srgbClr val="F5F7FA"/>
                </a:solidFill>
                <a:latin typeface="Segoe UI"/>
              </a:rPr>
              <a:t>$3,9 Mlyr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1000" b="0" i="0">
                <a:solidFill>
                  <a:srgbClr val="9AA5B8"/>
                </a:solidFill>
                <a:latin typeface="Segoe UI"/>
              </a:rPr>
              <a:t>4X strateji türü IAP geliri, 2025 ilk yarı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43800" y="3236976"/>
            <a:ext cx="4160520" cy="868680"/>
          </a:xfrm>
          <a:prstGeom prst="rect">
            <a:avLst/>
          </a:prstGeom>
          <a:solidFill>
            <a:srgbClr val="1D283D"/>
          </a:solidFill>
          <a:ln w="9525">
            <a:solidFill>
              <a:srgbClr val="E99A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43800" y="3236976"/>
            <a:ext cx="40640" cy="868680"/>
          </a:xfrm>
          <a:prstGeom prst="rect">
            <a:avLst/>
          </a:prstGeom>
          <a:solidFill>
            <a:srgbClr val="E99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08392" y="3346704"/>
            <a:ext cx="388620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1" i="0">
                <a:solidFill>
                  <a:srgbClr val="F5F7FA"/>
                </a:solidFill>
                <a:latin typeface="Segoe UI"/>
              </a:rPr>
              <a:t>$6,8 Mlyr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1000" b="0" i="0">
                <a:solidFill>
                  <a:srgbClr val="9AA5B8"/>
                </a:solidFill>
                <a:latin typeface="Segoe UI"/>
              </a:rPr>
              <a:t>4X strateji türü toplam IAP geliri, 2024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43800" y="4261104"/>
            <a:ext cx="4160520" cy="868680"/>
          </a:xfrm>
          <a:prstGeom prst="rect">
            <a:avLst/>
          </a:prstGeom>
          <a:solidFill>
            <a:srgbClr val="1D283D"/>
          </a:solidFill>
          <a:ln w="9525">
            <a:solidFill>
              <a:srgbClr val="E99A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543800" y="4261104"/>
            <a:ext cx="40640" cy="868680"/>
          </a:xfrm>
          <a:prstGeom prst="rect">
            <a:avLst/>
          </a:prstGeom>
          <a:solidFill>
            <a:srgbClr val="E99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08392" y="4370832"/>
            <a:ext cx="388620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1" i="0">
                <a:solidFill>
                  <a:srgbClr val="F5F7FA"/>
                </a:solidFill>
                <a:latin typeface="Segoe UI"/>
              </a:rPr>
              <a:t>100-200 Mlyr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sz="1000" b="0" i="0">
                <a:solidFill>
                  <a:srgbClr val="9AA5B8"/>
                </a:solidFill>
                <a:latin typeface="Segoe UI"/>
              </a:rPr>
              <a:t>yaşam boyu indirme (RoK / Evony)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5330952"/>
            <a:ext cx="41605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9AA5B8"/>
                </a:solidFill>
                <a:latin typeface="Segoe UI"/>
              </a:rPr>
              <a:t>CatWars/OpenFront şu an bu ölçeğin çok altında (tarayıcı, sadece reklam) — ama tema aynı; mobil + derinlik yol haritanın gösterdiği yön.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BC8C0"/>
                </a:solidFill>
                <a:latin typeface="Segoe UI"/>
              </a:rPr>
              <a:t>BÖLÜM 4 · KONUMLANDIRMA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5F7FA"/>
                </a:solidFill>
                <a:latin typeface="Segoe UI"/>
              </a:rPr>
              <a:t>Karşılaştırma Tablosu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298448"/>
            <a:ext cx="822960" cy="40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9AA5B8"/>
                </a:solidFill>
                <a:latin typeface="Segoe UI"/>
              </a:rPr>
              <a:t>Tüm incelenen oyunlar tek bakışta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678"/>
                </a:solidFill>
                <a:latin typeface="Segoe UI"/>
              </a:rPr>
              <a:t>CatWars  •  Pazar ve Rakip Analizi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6678"/>
                </a:solidFill>
                <a:latin typeface="Segoe UI"/>
              </a:rPr>
              <a:t>13 / 18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828800"/>
          <a:ext cx="11475720" cy="3895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554480"/>
                <a:gridCol w="1234440"/>
                <a:gridCol w="1417320"/>
                <a:gridCol w="265176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b="1" sz="1150">
                          <a:solidFill>
                            <a:srgbClr val="1B222E"/>
                          </a:solidFill>
                          <a:latin typeface="Segoe UI"/>
                        </a:rPr>
                        <a:t>Oyun</a:t>
                      </a:r>
                    </a:p>
                  </a:txBody>
                  <a:tcPr anchor="ctr" marL="73152" marR="73152" marT="36576" marB="36576"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50">
                          <a:solidFill>
                            <a:srgbClr val="1B222E"/>
                          </a:solidFill>
                          <a:latin typeface="Segoe UI"/>
                        </a:rPr>
                        <a:t>Platform</a:t>
                      </a:r>
                    </a:p>
                  </a:txBody>
                  <a:tcPr anchor="ctr" marL="73152" marR="73152" marT="36576" marB="36576"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50">
                          <a:solidFill>
                            <a:srgbClr val="1B222E"/>
                          </a:solidFill>
                          <a:latin typeface="Segoe UI"/>
                        </a:rPr>
                        <a:t>Steam'de mi?</a:t>
                      </a:r>
                    </a:p>
                  </a:txBody>
                  <a:tcPr anchor="ctr" marL="73152" marR="73152" marT="36576" marB="36576"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50">
                          <a:solidFill>
                            <a:srgbClr val="1B222E"/>
                          </a:solidFill>
                          <a:latin typeface="Segoe UI"/>
                        </a:rPr>
                        <a:t>İş Modeli</a:t>
                      </a:r>
                    </a:p>
                  </a:txBody>
                  <a:tcPr anchor="ctr" marL="73152" marR="73152" marT="36576" marB="36576"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50">
                          <a:solidFill>
                            <a:srgbClr val="1B222E"/>
                          </a:solidFill>
                          <a:latin typeface="Segoe UI"/>
                        </a:rPr>
                        <a:t>Kullanıcı / Gelir Ölçeği</a:t>
                      </a:r>
                    </a:p>
                  </a:txBody>
                  <a:tcPr anchor="ctr" marL="73152" marR="73152" marT="36576" marB="36576"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50">
                          <a:solidFill>
                            <a:srgbClr val="1B222E"/>
                          </a:solidFill>
                          <a:latin typeface="Segoe UI"/>
                        </a:rPr>
                        <a:t>Kategori</a:t>
                      </a:r>
                    </a:p>
                  </a:txBody>
                  <a:tcPr anchor="ctr" marL="73152" marR="73152" marT="36576" marB="36576">
                    <a:solidFill>
                      <a:srgbClr val="E8A33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A33D"/>
                          </a:solidFill>
                          <a:latin typeface="Segoe UI"/>
                        </a:rPr>
                        <a:t>CatWars (bu proje)</a:t>
                      </a:r>
                    </a:p>
                  </a:txBody>
                  <a:tcPr anchor="ctr" marL="73152" marR="73152" marT="27432" marB="27432">
                    <a:solidFill>
                      <a:srgbClr val="3A2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A33D"/>
                          </a:solidFill>
                          <a:latin typeface="Segoe UI"/>
                        </a:rPr>
                        <a:t>Tarayıcı (geliştirme)</a:t>
                      </a:r>
                    </a:p>
                  </a:txBody>
                  <a:tcPr anchor="ctr" marL="73152" marR="73152" marT="27432" marB="27432">
                    <a:solidFill>
                      <a:srgbClr val="3A2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A33D"/>
                          </a:solidFill>
                          <a:latin typeface="Segoe UI"/>
                        </a:rPr>
                        <a:t>Hedef: Erken Erişim</a:t>
                      </a:r>
                    </a:p>
                  </a:txBody>
                  <a:tcPr anchor="ctr" marL="73152" marR="73152" marT="27432" marB="27432">
                    <a:solidFill>
                      <a:srgbClr val="3A2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A33D"/>
                          </a:solidFill>
                          <a:latin typeface="Segoe UI"/>
                        </a:rPr>
                        <a:t>Belirlenmedi</a:t>
                      </a:r>
                    </a:p>
                  </a:txBody>
                  <a:tcPr anchor="ctr" marL="73152" marR="73152" marT="27432" marB="27432">
                    <a:solidFill>
                      <a:srgbClr val="3A2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A33D"/>
                          </a:solidFill>
                          <a:latin typeface="Segoe UI"/>
                        </a:rPr>
                        <a:t>Geliştirme aşamasında</a:t>
                      </a:r>
                    </a:p>
                  </a:txBody>
                  <a:tcPr anchor="ctr" marL="73152" marR="73152" marT="27432" marB="27432">
                    <a:solidFill>
                      <a:srgbClr val="3A2E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A33D"/>
                          </a:solidFill>
                          <a:latin typeface="Segoe UI"/>
                        </a:rPr>
                        <a:t>Gerçek-Zamanlı Strateji</a:t>
                      </a:r>
                    </a:p>
                  </a:txBody>
                  <a:tcPr anchor="ctr" marL="73152" marR="73152" marT="27432" marB="27432">
                    <a:solidFill>
                      <a:srgbClr val="3A2E1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OpenFront.io</a:t>
                      </a:r>
                    </a:p>
                  </a:txBody>
                  <a:tcPr anchor="ctr" marL="73152" marR="73152" marT="27432" marB="27432">
                    <a:solidFill>
                      <a:srgbClr val="1D28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Tarayıcı</a:t>
                      </a:r>
                    </a:p>
                  </a:txBody>
                  <a:tcPr anchor="ctr" marL="73152" marR="73152" marT="27432" marB="27432">
                    <a:solidFill>
                      <a:srgbClr val="1D28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Yakında (Ç3 2026)</a:t>
                      </a:r>
                    </a:p>
                  </a:txBody>
                  <a:tcPr anchor="ctr" marL="73152" marR="73152" marT="27432" marB="27432">
                    <a:solidFill>
                      <a:srgbClr val="1D28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Reklam + Premium</a:t>
                      </a:r>
                    </a:p>
                  </a:txBody>
                  <a:tcPr anchor="ctr" marL="73152" marR="73152" marT="27432" marB="27432">
                    <a:solidFill>
                      <a:srgbClr val="1D28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200-250 Bin GAU/gün</a:t>
                      </a:r>
                    </a:p>
                  </a:txBody>
                  <a:tcPr anchor="ctr" marL="73152" marR="73152" marT="27432" marB="27432">
                    <a:solidFill>
                      <a:srgbClr val="1D28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Gerçek-Zamanlı Strateji</a:t>
                      </a:r>
                    </a:p>
                  </a:txBody>
                  <a:tcPr anchor="ctr" marL="73152" marR="73152" marT="27432" marB="27432">
                    <a:solidFill>
                      <a:srgbClr val="1D283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territorial.io</a:t>
                      </a:r>
                    </a:p>
                  </a:txBody>
                  <a:tcPr anchor="ctr" marL="73152" marR="73152" marT="27432" marB="27432"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Tarayıcı + Mobil</a:t>
                      </a:r>
                    </a:p>
                  </a:txBody>
                  <a:tcPr anchor="ctr" marL="73152" marR="73152" marT="27432" marB="27432"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Hayır</a:t>
                      </a:r>
                    </a:p>
                  </a:txBody>
                  <a:tcPr anchor="ctr" marL="73152" marR="73152" marT="27432" marB="27432"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Reklam</a:t>
                      </a:r>
                    </a:p>
                  </a:txBody>
                  <a:tcPr anchor="ctr" marL="73152" marR="73152" marT="27432" marB="27432"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Küçülüyor (~#47 Bin sıra)</a:t>
                      </a:r>
                    </a:p>
                  </a:txBody>
                  <a:tcPr anchor="ctr" marL="73152" marR="73152" marT="27432" marB="27432"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.io Toprak Fetih</a:t>
                      </a:r>
                    </a:p>
                  </a:txBody>
                  <a:tcPr anchor="ctr" marL="73152" marR="73152" marT="27432" marB="27432">
                    <a:solidFill>
                      <a:srgbClr val="161F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Generals.io</a:t>
                      </a:r>
                    </a:p>
                  </a:txBody>
                  <a:tcPr anchor="ctr" marL="73152" marR="73152" marT="27432" marB="27432">
                    <a:solidFill>
                      <a:srgbClr val="1D28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Tarayıcı</a:t>
                      </a:r>
                    </a:p>
                  </a:txBody>
                  <a:tcPr anchor="ctr" marL="73152" marR="73152" marT="27432" marB="27432">
                    <a:solidFill>
                      <a:srgbClr val="1D28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Hayır</a:t>
                      </a:r>
                    </a:p>
                  </a:txBody>
                  <a:tcPr anchor="ctr" marL="73152" marR="73152" marT="27432" marB="27432">
                    <a:solidFill>
                      <a:srgbClr val="1D28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Reklam / Yok</a:t>
                      </a:r>
                    </a:p>
                  </a:txBody>
                  <a:tcPr anchor="ctr" marL="73152" marR="73152" marT="27432" marB="27432">
                    <a:solidFill>
                      <a:srgbClr val="1D28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Niş topluluk</a:t>
                      </a:r>
                    </a:p>
                  </a:txBody>
                  <a:tcPr anchor="ctr" marL="73152" marR="73152" marT="27432" marB="27432">
                    <a:solidFill>
                      <a:srgbClr val="1D28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.io Strateji</a:t>
                      </a:r>
                    </a:p>
                  </a:txBody>
                  <a:tcPr anchor="ctr" marL="73152" marR="73152" marT="27432" marB="27432">
                    <a:solidFill>
                      <a:srgbClr val="1D283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RISK: Global Domination</a:t>
                      </a:r>
                    </a:p>
                  </a:txBody>
                  <a:tcPr anchor="ctr" marL="73152" marR="73152" marT="27432" marB="27432"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Steam + Mobil</a:t>
                      </a:r>
                    </a:p>
                  </a:txBody>
                  <a:tcPr anchor="ctr" marL="73152" marR="73152" marT="27432" marB="27432"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Evet</a:t>
                      </a:r>
                    </a:p>
                  </a:txBody>
                  <a:tcPr anchor="ctr" marL="73152" marR="73152" marT="27432" marB="27432"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F2P + IAP</a:t>
                      </a:r>
                    </a:p>
                  </a:txBody>
                  <a:tcPr anchor="ctr" marL="73152" marR="73152" marT="27432" marB="27432"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21,6 Bin Steam yorumu</a:t>
                      </a:r>
                    </a:p>
                  </a:txBody>
                  <a:tcPr anchor="ctr" marL="73152" marR="73152" marT="27432" marB="27432"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Klasik Strateji (lisanslı)</a:t>
                      </a:r>
                    </a:p>
                  </a:txBody>
                  <a:tcPr anchor="ctr" marL="73152" marR="73152" marT="27432" marB="27432">
                    <a:solidFill>
                      <a:srgbClr val="161F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Supremacy 1914</a:t>
                      </a:r>
                    </a:p>
                  </a:txBody>
                  <a:tcPr anchor="ctr" marL="73152" marR="73152" marT="27432" marB="27432">
                    <a:solidFill>
                      <a:srgbClr val="1D28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Tarayıcı+Mobil+Steam</a:t>
                      </a:r>
                    </a:p>
                  </a:txBody>
                  <a:tcPr anchor="ctr" marL="73152" marR="73152" marT="27432" marB="27432">
                    <a:solidFill>
                      <a:srgbClr val="1D28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Evet</a:t>
                      </a:r>
                    </a:p>
                  </a:txBody>
                  <a:tcPr anchor="ctr" marL="73152" marR="73152" marT="27432" marB="27432">
                    <a:solidFill>
                      <a:srgbClr val="1D28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F2P + IAP</a:t>
                      </a:r>
                    </a:p>
                  </a:txBody>
                  <a:tcPr anchor="ctr" marL="73152" marR="73152" marT="27432" marB="27432">
                    <a:solidFill>
                      <a:srgbClr val="1D28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~€20 Mlyr toplam gelir</a:t>
                      </a:r>
                    </a:p>
                  </a:txBody>
                  <a:tcPr anchor="ctr" marL="73152" marR="73152" marT="27432" marB="27432">
                    <a:solidFill>
                      <a:srgbClr val="1D28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Grand Strategy</a:t>
                      </a:r>
                    </a:p>
                  </a:txBody>
                  <a:tcPr anchor="ctr" marL="73152" marR="73152" marT="27432" marB="27432">
                    <a:solidFill>
                      <a:srgbClr val="1D283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Rise of Kingdoms</a:t>
                      </a:r>
                    </a:p>
                  </a:txBody>
                  <a:tcPr anchor="ctr" marL="73152" marR="73152" marT="27432" marB="27432"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Mobil</a:t>
                      </a:r>
                    </a:p>
                  </a:txBody>
                  <a:tcPr anchor="ctr" marL="73152" marR="73152" marT="27432" marB="27432"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Hayır</a:t>
                      </a:r>
                    </a:p>
                  </a:txBody>
                  <a:tcPr anchor="ctr" marL="73152" marR="73152" marT="27432" marB="27432"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F2P + IAP</a:t>
                      </a:r>
                    </a:p>
                  </a:txBody>
                  <a:tcPr anchor="ctr" marL="73152" marR="73152" marT="27432" marB="27432"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$214 Mn/yıl · $2 Mlyr yaşam boyu</a:t>
                      </a:r>
                    </a:p>
                  </a:txBody>
                  <a:tcPr anchor="ctr" marL="73152" marR="73152" marT="27432" marB="27432"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4X Mobil Strateji</a:t>
                      </a:r>
                    </a:p>
                  </a:txBody>
                  <a:tcPr anchor="ctr" marL="73152" marR="73152" marT="27432" marB="27432">
                    <a:solidFill>
                      <a:srgbClr val="161F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Evony</a:t>
                      </a:r>
                    </a:p>
                  </a:txBody>
                  <a:tcPr anchor="ctr" marL="73152" marR="73152" marT="27432" marB="27432">
                    <a:solidFill>
                      <a:srgbClr val="1D28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Mobil</a:t>
                      </a:r>
                    </a:p>
                  </a:txBody>
                  <a:tcPr anchor="ctr" marL="73152" marR="73152" marT="27432" marB="27432">
                    <a:solidFill>
                      <a:srgbClr val="1D28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Hayır</a:t>
                      </a:r>
                    </a:p>
                  </a:txBody>
                  <a:tcPr anchor="ctr" marL="73152" marR="73152" marT="27432" marB="27432">
                    <a:solidFill>
                      <a:srgbClr val="1D28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F2P + IAP</a:t>
                      </a:r>
                    </a:p>
                  </a:txBody>
                  <a:tcPr anchor="ctr" marL="73152" marR="73152" marT="27432" marB="27432">
                    <a:solidFill>
                      <a:srgbClr val="1D28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$169 Mn/yıl · $1 Mlyr yaşam boyu</a:t>
                      </a:r>
                    </a:p>
                  </a:txBody>
                  <a:tcPr anchor="ctr" marL="73152" marR="73152" marT="27432" marB="27432">
                    <a:solidFill>
                      <a:srgbClr val="1D28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5F7FA"/>
                          </a:solidFill>
                          <a:latin typeface="Segoe UI"/>
                        </a:rPr>
                        <a:t>4X Mobil Strateji</a:t>
                      </a:r>
                    </a:p>
                  </a:txBody>
                  <a:tcPr anchor="ctr" marL="73152" marR="73152" marT="27432" marB="27432">
                    <a:solidFill>
                      <a:srgbClr val="1D283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BC8C0"/>
                </a:solidFill>
                <a:latin typeface="Segoe UI"/>
              </a:rPr>
              <a:t>BÖLÜM 4 · KONUMLANDIRMA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5F7FA"/>
                </a:solidFill>
                <a:latin typeface="Segoe UI"/>
              </a:rPr>
              <a:t>Pazar Konumlandırma Haritası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298448"/>
            <a:ext cx="822960" cy="40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9AA5B8"/>
                </a:solidFill>
                <a:latin typeface="Segoe UI"/>
              </a:rPr>
              <a:t>Kavramsal / temsili konumlandırma — mekanik derinlik ile kullanıcı/gelir ölçeği arasındaki ilişki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678"/>
                </a:solidFill>
                <a:latin typeface="Segoe UI"/>
              </a:rPr>
              <a:t>CatWars  •  Pazar ve Rakip Analizi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6678"/>
                </a:solidFill>
                <a:latin typeface="Segoe UI"/>
              </a:rPr>
              <a:t>14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828800"/>
            <a:ext cx="6949440" cy="4434840"/>
          </a:xfrm>
          <a:prstGeom prst="rect">
            <a:avLst/>
          </a:prstGeom>
          <a:solidFill>
            <a:srgbClr val="16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0" y="1828800"/>
            <a:ext cx="9525" cy="4434840"/>
          </a:xfrm>
          <a:prstGeom prst="rect">
            <a:avLst/>
          </a:prstGeom>
          <a:solidFill>
            <a:srgbClr val="1D2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937510"/>
            <a:ext cx="6949440" cy="9525"/>
          </a:xfrm>
          <a:prstGeom prst="rect">
            <a:avLst/>
          </a:prstGeom>
          <a:solidFill>
            <a:srgbClr val="1D2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828800"/>
            <a:ext cx="9525" cy="4434840"/>
          </a:xfrm>
          <a:prstGeom prst="rect">
            <a:avLst/>
          </a:prstGeom>
          <a:solidFill>
            <a:srgbClr val="1D2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4046220"/>
            <a:ext cx="6949440" cy="9525"/>
          </a:xfrm>
          <a:prstGeom prst="rect">
            <a:avLst/>
          </a:prstGeom>
          <a:solidFill>
            <a:srgbClr val="1D2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40" y="1828800"/>
            <a:ext cx="9525" cy="4434840"/>
          </a:xfrm>
          <a:prstGeom prst="rect">
            <a:avLst/>
          </a:prstGeom>
          <a:solidFill>
            <a:srgbClr val="1D2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154930"/>
            <a:ext cx="6949440" cy="9525"/>
          </a:xfrm>
          <a:prstGeom prst="rect">
            <a:avLst/>
          </a:prstGeom>
          <a:solidFill>
            <a:srgbClr val="1D2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44590"/>
            <a:ext cx="6949440" cy="19050"/>
          </a:xfrm>
          <a:prstGeom prst="rect">
            <a:avLst/>
          </a:prstGeom>
          <a:solidFill>
            <a:srgbClr val="5C6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1828800"/>
            <a:ext cx="19050" cy="4434840"/>
          </a:xfrm>
          <a:prstGeom prst="rect">
            <a:avLst/>
          </a:prstGeom>
          <a:solidFill>
            <a:srgbClr val="5C6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36792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9AA5B8"/>
                </a:solidFill>
                <a:latin typeface="Segoe UI"/>
              </a:rPr>
              <a:t>Mekanik Basitlik  →  Mekanik Derinlik</a:t>
            </a:r>
          </a:p>
        </p:txBody>
      </p:sp>
      <p:sp>
        <p:nvSpPr>
          <p:cNvPr id="19" name="TextBox 18"/>
          <p:cNvSpPr txBox="1"/>
          <p:nvPr/>
        </p:nvSpPr>
        <p:spPr>
          <a:xfrm rot="16200000">
            <a:off x="137160" y="29489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9AA5B8"/>
                </a:solidFill>
                <a:latin typeface="Segoe UI"/>
              </a:rPr>
              <a:t>Kullanıcı / Gelir Ölçeği  →</a:t>
            </a:r>
          </a:p>
        </p:txBody>
      </p:sp>
      <p:sp>
        <p:nvSpPr>
          <p:cNvPr id="20" name="Oval 19"/>
          <p:cNvSpPr/>
          <p:nvPr/>
        </p:nvSpPr>
        <p:spPr>
          <a:xfrm>
            <a:off x="1399032" y="5789981"/>
            <a:ext cx="237744" cy="23774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F5F7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64792" y="5698541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5F7FA"/>
                </a:solidFill>
                <a:latin typeface="Segoe UI"/>
              </a:rPr>
              <a:t>CatWars
(Steam hedefi)</a:t>
            </a:r>
          </a:p>
        </p:txBody>
      </p:sp>
      <p:sp>
        <p:nvSpPr>
          <p:cNvPr id="22" name="Oval 21"/>
          <p:cNvSpPr/>
          <p:nvPr/>
        </p:nvSpPr>
        <p:spPr>
          <a:xfrm>
            <a:off x="1834286" y="5542178"/>
            <a:ext cx="201168" cy="201168"/>
          </a:xfrm>
          <a:prstGeom prst="ellipse">
            <a:avLst/>
          </a:prstGeom>
          <a:solidFill>
            <a:srgbClr val="92E9C7"/>
          </a:solidFill>
          <a:ln w="12700">
            <a:solidFill>
              <a:srgbClr val="F5F7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63470" y="545073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5F7FA"/>
                </a:solidFill>
                <a:latin typeface="Segoe UI"/>
              </a:rPr>
              <a:t>territorial.io</a:t>
            </a:r>
          </a:p>
        </p:txBody>
      </p:sp>
      <p:sp>
        <p:nvSpPr>
          <p:cNvPr id="24" name="Oval 23"/>
          <p:cNvSpPr/>
          <p:nvPr/>
        </p:nvSpPr>
        <p:spPr>
          <a:xfrm>
            <a:off x="2807208" y="5719572"/>
            <a:ext cx="201168" cy="201168"/>
          </a:xfrm>
          <a:prstGeom prst="ellipse">
            <a:avLst/>
          </a:prstGeom>
          <a:solidFill>
            <a:srgbClr val="9AC1E9"/>
          </a:solidFill>
          <a:ln w="12700">
            <a:solidFill>
              <a:srgbClr val="F5F7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36392" y="562813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5F7FA"/>
                </a:solidFill>
                <a:latin typeface="Segoe UI"/>
              </a:rPr>
              <a:t>Generals.io</a:t>
            </a:r>
          </a:p>
        </p:txBody>
      </p:sp>
      <p:sp>
        <p:nvSpPr>
          <p:cNvPr id="26" name="Oval 25"/>
          <p:cNvSpPr/>
          <p:nvPr/>
        </p:nvSpPr>
        <p:spPr>
          <a:xfrm>
            <a:off x="4994453" y="3554273"/>
            <a:ext cx="274320" cy="274320"/>
          </a:xfrm>
          <a:prstGeom prst="ellipse">
            <a:avLst/>
          </a:prstGeom>
          <a:solidFill>
            <a:srgbClr val="5BC8C0"/>
          </a:solidFill>
          <a:ln w="12700">
            <a:solidFill>
              <a:srgbClr val="F5F7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6789" y="3462833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5F7FA"/>
                </a:solidFill>
                <a:latin typeface="Segoe UI"/>
              </a:rPr>
              <a:t>OpenFront.io</a:t>
            </a:r>
          </a:p>
        </p:txBody>
      </p:sp>
      <p:sp>
        <p:nvSpPr>
          <p:cNvPr id="28" name="Oval 27"/>
          <p:cNvSpPr/>
          <p:nvPr/>
        </p:nvSpPr>
        <p:spPr>
          <a:xfrm>
            <a:off x="5447995" y="4655210"/>
            <a:ext cx="201168" cy="201168"/>
          </a:xfrm>
          <a:prstGeom prst="ellipse">
            <a:avLst/>
          </a:prstGeom>
          <a:solidFill>
            <a:srgbClr val="E99A92"/>
          </a:solidFill>
          <a:ln w="12700">
            <a:solidFill>
              <a:srgbClr val="F5F7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77179" y="456377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5F7FA"/>
                </a:solidFill>
                <a:latin typeface="Segoe UI"/>
              </a:rPr>
              <a:t>RISK: Global
Domination</a:t>
            </a:r>
          </a:p>
        </p:txBody>
      </p:sp>
      <p:sp>
        <p:nvSpPr>
          <p:cNvPr id="30" name="Oval 29"/>
          <p:cNvSpPr/>
          <p:nvPr/>
        </p:nvSpPr>
        <p:spPr>
          <a:xfrm>
            <a:off x="6420917" y="3723894"/>
            <a:ext cx="201168" cy="201168"/>
          </a:xfrm>
          <a:prstGeom prst="ellipse">
            <a:avLst/>
          </a:prstGeom>
          <a:solidFill>
            <a:srgbClr val="E9B892"/>
          </a:solidFill>
          <a:ln w="12700">
            <a:solidFill>
              <a:srgbClr val="F5F7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50101" y="363245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5F7FA"/>
                </a:solidFill>
                <a:latin typeface="Segoe UI"/>
              </a:rPr>
              <a:t>Supremacy 1914</a:t>
            </a:r>
          </a:p>
        </p:txBody>
      </p:sp>
      <p:sp>
        <p:nvSpPr>
          <p:cNvPr id="32" name="Oval 31"/>
          <p:cNvSpPr/>
          <p:nvPr/>
        </p:nvSpPr>
        <p:spPr>
          <a:xfrm>
            <a:off x="6922008" y="2116836"/>
            <a:ext cx="310896" cy="310896"/>
          </a:xfrm>
          <a:prstGeom prst="ellipse">
            <a:avLst/>
          </a:prstGeom>
          <a:solidFill>
            <a:srgbClr val="C79AE9"/>
          </a:solidFill>
          <a:ln w="12700">
            <a:solidFill>
              <a:srgbClr val="F5F7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60920" y="2025396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5F7FA"/>
                </a:solidFill>
                <a:latin typeface="Segoe UI"/>
              </a:rPr>
              <a:t>Mobil 4X Devleri
(RoK, Evony, Last War)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726387" y="3957523"/>
            <a:ext cx="3127248" cy="1862633"/>
          </a:xfrm>
          <a:prstGeom prst="line">
            <a:avLst/>
          </a:prstGeom>
          <a:ln w="22225">
            <a:solidFill>
              <a:srgbClr val="E8A33D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138160" y="1828800"/>
            <a:ext cx="3794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A33D"/>
                </a:solidFill>
                <a:latin typeface="Segoe UI"/>
              </a:rPr>
              <a:t>OKUMA NOTU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2194560"/>
            <a:ext cx="37947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100" b="0" i="0">
                <a:solidFill>
                  <a:srgbClr val="F5F7FA"/>
                </a:solidFill>
                <a:latin typeface="Segoe UI"/>
              </a:rPr>
              <a:t>Basit .io oyunları (territorial.io, Generals.io) küçük ölçekte kalıyor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100" b="0" i="0">
                <a:solidFill>
                  <a:srgbClr val="F5F7FA"/>
                </a:solidFill>
                <a:latin typeface="Segoe UI"/>
              </a:rPr>
              <a:t>Derinlik eklendikçe (OpenFront.io, Supremacy 1914) ölçek büyüyor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100" b="0" i="0">
                <a:solidFill>
                  <a:srgbClr val="F5F7FA"/>
                </a:solidFill>
                <a:latin typeface="Segoe UI"/>
              </a:rPr>
              <a:t>Mobil + ağır IAP'a taşınınca (RoK, Evony, Last War) ölçek katlanarak artıyor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100" b="0" i="0">
                <a:solidFill>
                  <a:srgbClr val="F5F7FA"/>
                </a:solidFill>
                <a:latin typeface="Segoe UI"/>
              </a:rPr>
              <a:t>CatWars bugün başlangıç noktasında; Steam'e çıkışla birlikte planlanan nükleer/ittifak/takım fazları OpenFront çizgisine doğru bir yol haritası öneriyor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BC8C0"/>
                </a:solidFill>
                <a:latin typeface="Segoe UI"/>
              </a:rPr>
              <a:t>BÖLÜM 5 · SONUÇ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5F7FA"/>
                </a:solidFill>
                <a:latin typeface="Segoe UI"/>
              </a:rPr>
              <a:t>CatWars İçin Fırsatlar ve Yol Haritası Çıkarımları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298448"/>
            <a:ext cx="822960" cy="40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678"/>
                </a:solidFill>
                <a:latin typeface="Segoe UI"/>
              </a:rPr>
              <a:t>CatWars  •  Pazar ve Rakip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6678"/>
                </a:solidFill>
                <a:latin typeface="Segoe UI"/>
              </a:rPr>
              <a:t>15 / 18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783080"/>
            <a:ext cx="5349240" cy="1316736"/>
          </a:xfrm>
          <a:prstGeom prst="rect">
            <a:avLst/>
          </a:prstGeom>
          <a:solidFill>
            <a:srgbClr val="16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783080"/>
            <a:ext cx="44450" cy="1316736"/>
          </a:xfrm>
          <a:prstGeom prst="rect">
            <a:avLst/>
          </a:prstGeom>
          <a:solidFill>
            <a:srgbClr val="5BC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874520"/>
            <a:ext cx="4983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F7FA"/>
                </a:solidFill>
                <a:latin typeface="Segoe UI"/>
              </a:rPr>
              <a:t>Kanıtlanmış talep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185416"/>
            <a:ext cx="4983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AA5B8"/>
                </a:solidFill>
                <a:latin typeface="Segoe UI"/>
              </a:rPr>
              <a:t>OpenFront.io'nun 200-250 Bin günlük oyuncuya ulaşması, gerçek-zamanlı toprak fetih konseptinin gerçek bir kitle çektiğini gösteriyor.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783080"/>
            <a:ext cx="5349240" cy="1316736"/>
          </a:xfrm>
          <a:prstGeom prst="rect">
            <a:avLst/>
          </a:prstGeom>
          <a:solidFill>
            <a:srgbClr val="16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83080"/>
            <a:ext cx="44450" cy="1316736"/>
          </a:xfrm>
          <a:prstGeom prst="rect">
            <a:avLst/>
          </a:prstGeom>
          <a:solidFill>
            <a:srgbClr val="92E9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1874520"/>
            <a:ext cx="4983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F7FA"/>
                </a:solidFill>
                <a:latin typeface="Segoe UI"/>
              </a:rPr>
              <a:t>Durağanlaşan öncü = fırsat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185416"/>
            <a:ext cx="4983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AA5B8"/>
                </a:solidFill>
                <a:latin typeface="Segoe UI"/>
              </a:rPr>
              <a:t>territorial.io derinlik eklemeyip küçülürken, CatWars'ın zaten sahip olduğu liman/savaş gemisi gibi sistemler Steam'de fark yaratabilir.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3264408"/>
            <a:ext cx="5349240" cy="1316736"/>
          </a:xfrm>
          <a:prstGeom prst="rect">
            <a:avLst/>
          </a:prstGeom>
          <a:solidFill>
            <a:srgbClr val="16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" y="3264408"/>
            <a:ext cx="44450" cy="1316736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355848"/>
            <a:ext cx="4983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F7FA"/>
                </a:solidFill>
                <a:latin typeface="Segoe UI"/>
              </a:rPr>
              <a:t>Derinlik = ölçek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" y="3666744"/>
            <a:ext cx="4983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AA5B8"/>
                </a:solidFill>
                <a:latin typeface="Segoe UI"/>
              </a:rPr>
              <a:t>Supremacy 1914 (~€20 Mlyr) ve mobil 4X devleri (RoK $214 Mn, Evony $169 Mn) gösteriyor ki ittifak/nükleer/takım gibi sistemler gelir ölçeğini büyütüyor.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3264408"/>
            <a:ext cx="5349240" cy="1316736"/>
          </a:xfrm>
          <a:prstGeom prst="rect">
            <a:avLst/>
          </a:prstGeom>
          <a:solidFill>
            <a:srgbClr val="16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3264408"/>
            <a:ext cx="44450" cy="1316736"/>
          </a:xfrm>
          <a:prstGeom prst="rect">
            <a:avLst/>
          </a:prstGeom>
          <a:solidFill>
            <a:srgbClr val="E9B8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355848"/>
            <a:ext cx="4983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F7FA"/>
                </a:solidFill>
                <a:latin typeface="Segoe UI"/>
              </a:rPr>
              <a:t>Steam'de farklı bir monetizasyon fırsatı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3666744"/>
            <a:ext cx="4983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AA5B8"/>
                </a:solidFill>
                <a:latin typeface="Segoe UI"/>
              </a:rPr>
              <a:t>OpenFront reklam+abonelikle büyüdü; CatWars Steam'de tek seferlik satış/IAP gibi farklı, platforma özgü bir model deneyebilir.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745736"/>
            <a:ext cx="5349240" cy="1316736"/>
          </a:xfrm>
          <a:prstGeom prst="rect">
            <a:avLst/>
          </a:prstGeom>
          <a:solidFill>
            <a:srgbClr val="16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4360" y="4745736"/>
            <a:ext cx="44450" cy="1316736"/>
          </a:xfrm>
          <a:prstGeom prst="rect">
            <a:avLst/>
          </a:prstGeom>
          <a:solidFill>
            <a:srgbClr val="C79A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4837176"/>
            <a:ext cx="4983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F7FA"/>
                </a:solidFill>
                <a:latin typeface="Segoe UI"/>
              </a:rPr>
              <a:t>Doğrudan rekabet: hem kanıt hem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" y="5148072"/>
            <a:ext cx="4983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AA5B8"/>
                </a:solidFill>
                <a:latin typeface="Segoe UI"/>
              </a:rPr>
              <a:t>OpenFront.io, Supremacy 1914 ve RISK:GD'nin Steam'de başarılı olması pazarı kanıtlıyor, ama CatWars'a aynı raflarda doğrudan rakip de çıkarıyor (bkz. Riskler).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4745736"/>
            <a:ext cx="5349240" cy="1316736"/>
          </a:xfrm>
          <a:prstGeom prst="rect">
            <a:avLst/>
          </a:prstGeom>
          <a:solidFill>
            <a:srgbClr val="16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4745736"/>
            <a:ext cx="44450" cy="1316736"/>
          </a:xfrm>
          <a:prstGeom prst="rect">
            <a:avLst/>
          </a:prstGeom>
          <a:solidFill>
            <a:srgbClr val="9AC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837176"/>
            <a:ext cx="4983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F7FA"/>
                </a:solidFill>
                <a:latin typeface="Segoe UI"/>
              </a:rPr>
              <a:t>Topluluk modeli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5148072"/>
            <a:ext cx="4983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AA5B8"/>
                </a:solidFill>
                <a:latin typeface="Segoe UI"/>
              </a:rPr>
              <a:t>OpenFront'un 300+ açık kaynak katkıcısı, geliştirme hızını artıran bir topluluk büyütme örneği sunuyor.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BC8C0"/>
                </a:solidFill>
                <a:latin typeface="Segoe UI"/>
              </a:rPr>
              <a:t>BÖLÜM 5 · SONUÇ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5F7FA"/>
                </a:solidFill>
                <a:latin typeface="Segoe UI"/>
              </a:rPr>
              <a:t>Özet ve Öneriler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298448"/>
            <a:ext cx="822960" cy="40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678"/>
                </a:solidFill>
                <a:latin typeface="Segoe UI"/>
              </a:rPr>
              <a:t>CatWars  •  Pazar ve Rakip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6678"/>
                </a:solidFill>
                <a:latin typeface="Segoe UI"/>
              </a:rPr>
              <a:t>16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83080"/>
            <a:ext cx="6126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A33D"/>
                </a:solidFill>
                <a:latin typeface="Segoe UI"/>
              </a:rPr>
              <a:t>ÖZET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21408"/>
            <a:ext cx="612648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20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200" b="0" i="0">
                <a:solidFill>
                  <a:srgbClr val="F5F7FA"/>
                </a:solidFill>
                <a:latin typeface="Segoe UI"/>
              </a:rPr>
              <a:t>CatWars, kanıtlanmış talebi olan bir pazarda konumlanıyor: Steam'de gerçek-zamanlı strateji / toprak fetih oyunları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20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200" b="0" i="0">
                <a:solidFill>
                  <a:srgbClr val="F5F7FA"/>
                </a:solidFill>
                <a:latin typeface="Segoe UI"/>
              </a:rPr>
              <a:t>Tasarım ilham kaynağı OpenFront.io günde 200-250 Bin oyuncuya ulaşarak pazarın canlılığını kanıtlıyor — ve Ç3 2026'da CatWars ile aynı platforma (Steam) çıkıyor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20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200" b="0" i="0">
                <a:solidFill>
                  <a:srgbClr val="F5F7FA"/>
                </a:solidFill>
                <a:latin typeface="Segoe UI"/>
              </a:rPr>
              <a:t>Üst segmentte (mobil 4X: Rise of Kingdoms, Evony, Last War) yıllık yüz milyonlarca - milyarlarca dolarlık gelir potansiyeli mevcut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20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200" b="0" i="0">
                <a:solidFill>
                  <a:srgbClr val="F5F7FA"/>
                </a:solidFill>
                <a:latin typeface="Segoe UI"/>
              </a:rPr>
              <a:t>CatWars'ın zaten uyguladığı liman/savaş gemisi sistemleri, planlanan nükleer/ittifak/takım fazlarıyla birleşince bu üst segmente doğru bir köprü oluşturuyor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20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200" b="0" i="0">
                <a:solidFill>
                  <a:srgbClr val="F5F7FA"/>
                </a:solidFill>
                <a:latin typeface="Segoe UI"/>
              </a:rPr>
              <a:t>Ancak sunucu maliyetleri, %30 Steam payı ve OpenFront ile doğrudan rekabet gibi somut riskler var (bkz. sonraki slayt)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178308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A33D"/>
                </a:solidFill>
                <a:latin typeface="Segoe UI"/>
              </a:rPr>
              <a:t>ÖNERİLEN SONRAKİ ADIMLAR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86600" y="2148840"/>
            <a:ext cx="4480560" cy="566928"/>
          </a:xfrm>
          <a:prstGeom prst="rect">
            <a:avLst/>
          </a:prstGeom>
          <a:solidFill>
            <a:srgbClr val="1D2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2148840"/>
            <a:ext cx="38100" cy="5669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0" y="2148840"/>
            <a:ext cx="3657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E8A33D"/>
                </a:solidFill>
                <a:latin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148840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F5F7FA"/>
                </a:solidFill>
                <a:latin typeface="Segoe UI"/>
              </a:rPr>
              <a:t>Prodüksiyon-grade sunucu altyapısı kur (Faz 14)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86600" y="2825496"/>
            <a:ext cx="4480560" cy="566928"/>
          </a:xfrm>
          <a:prstGeom prst="rect">
            <a:avLst/>
          </a:prstGeom>
          <a:solidFill>
            <a:srgbClr val="1D2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86600" y="2825496"/>
            <a:ext cx="38100" cy="5669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0" y="2825496"/>
            <a:ext cx="3657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E8A33D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25496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F5F7FA"/>
                </a:solidFill>
                <a:latin typeface="Segoe UI"/>
              </a:rPr>
              <a:t>Steam mağaza sayfası + wishlist kampanyası başlat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86600" y="3502152"/>
            <a:ext cx="4480560" cy="566928"/>
          </a:xfrm>
          <a:prstGeom prst="rect">
            <a:avLst/>
          </a:prstGeom>
          <a:solidFill>
            <a:srgbClr val="1D2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086600" y="3502152"/>
            <a:ext cx="38100" cy="5669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0" y="3502152"/>
            <a:ext cx="3657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E8A33D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502152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F5F7FA"/>
                </a:solidFill>
                <a:latin typeface="Segoe UI"/>
              </a:rPr>
              <a:t>Satış fiyatı / IAP monetizasyon modelini netleştir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86600" y="4178808"/>
            <a:ext cx="4480560" cy="566928"/>
          </a:xfrm>
          <a:prstGeom prst="rect">
            <a:avLst/>
          </a:prstGeom>
          <a:solidFill>
            <a:srgbClr val="1D2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86600" y="4178808"/>
            <a:ext cx="38100" cy="5669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0" y="4178808"/>
            <a:ext cx="3657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E8A33D"/>
                </a:solidFill>
                <a:latin typeface="Sego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4178808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F5F7FA"/>
                </a:solidFill>
                <a:latin typeface="Segoe UI"/>
              </a:rPr>
              <a:t>Topluluk büyütme (açık kaynak katkıcı modeli)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86600" y="4855464"/>
            <a:ext cx="4480560" cy="566928"/>
          </a:xfrm>
          <a:prstGeom prst="rect">
            <a:avLst/>
          </a:prstGeom>
          <a:solidFill>
            <a:srgbClr val="1D2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086600" y="4855464"/>
            <a:ext cx="38100" cy="5669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0" y="4855464"/>
            <a:ext cx="3657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E8A33D"/>
                </a:solidFill>
                <a:latin typeface="Sego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855464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F5F7FA"/>
                </a:solidFill>
                <a:latin typeface="Segoe UI"/>
              </a:rPr>
              <a:t>İttifak ve nükleer fazlarına öncelik ver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5074920"/>
            <a:ext cx="10927080" cy="1051560"/>
          </a:xfrm>
          <a:prstGeom prst="roundRect">
            <a:avLst/>
          </a:prstGeom>
          <a:solidFill>
            <a:srgbClr val="1D2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257800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1">
                <a:solidFill>
                  <a:srgbClr val="E8A33D"/>
                </a:solidFill>
                <a:latin typeface="Segoe UI"/>
              </a:rPr>
              <a:t>"Tarayıcı kökenli basit oynanış + gerçek dünya haritaları + derin grand-strategy sistemleri" — CatWars'ı Steam'de hem kolay anlaşılır hem de uzun vadede derinleşebilir bir konuma yerleştiren temel konumlandırma önerisi.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BC8C0"/>
                </a:solidFill>
                <a:latin typeface="Segoe UI"/>
              </a:rPr>
              <a:t>BÖLÜM 5 · SONUÇ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5F7FA"/>
                </a:solidFill>
                <a:latin typeface="Segoe UI"/>
              </a:rPr>
              <a:t>Olası Sorunlar ve Riskler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298448"/>
            <a:ext cx="822960" cy="40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9AA5B8"/>
                </a:solidFill>
                <a:latin typeface="Segoe UI"/>
              </a:rPr>
              <a:t>Steam dağıtımı erişim sağlıyor, ama sabit maliyet, %30 platform payı ve OpenFront rekabetini de getiriyor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678"/>
                </a:solidFill>
                <a:latin typeface="Segoe UI"/>
              </a:rPr>
              <a:t>CatWars  •  Pazar ve Rakip Analizi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6678"/>
                </a:solidFill>
                <a:latin typeface="Segoe UI"/>
              </a:rPr>
              <a:t>17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783080"/>
            <a:ext cx="5349240" cy="2148840"/>
          </a:xfrm>
          <a:prstGeom prst="rect">
            <a:avLst/>
          </a:prstGeom>
          <a:solidFill>
            <a:srgbClr val="16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783080"/>
            <a:ext cx="5349240" cy="63500"/>
          </a:xfrm>
          <a:prstGeom prst="rect">
            <a:avLst/>
          </a:prstGeom>
          <a:solidFill>
            <a:srgbClr val="E0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47672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F7FA"/>
                </a:solidFill>
                <a:latin typeface="Segoe UI"/>
              </a:rPr>
              <a:t>Sunucu ve Altyapı Maliyetleri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50008"/>
            <a:ext cx="489204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050" b="1" i="0">
                <a:solidFill>
                  <a:srgbClr val="F5F7FA"/>
                </a:solidFill>
                <a:latin typeface="Segoe UI"/>
              </a:rPr>
              <a:t>$500-1.500/ay: </a:t>
            </a:r>
            <a:r>
              <a:rPr sz="1050" b="0" i="0">
                <a:solidFill>
                  <a:srgbClr val="F5F7FA"/>
                </a:solidFill>
                <a:latin typeface="Segoe UI"/>
              </a:rPr>
              <a:t>1.000 eşzamanlı oyuncuda WebSocket sunucu maliyeti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050" b="1" i="0">
                <a:solidFill>
                  <a:srgbClr val="F5F7FA"/>
                </a:solidFill>
                <a:latin typeface="Segoe UI"/>
              </a:rPr>
              <a:t>$3.000-8.000/ay: </a:t>
            </a:r>
            <a:r>
              <a:rPr sz="1050" b="0" i="0">
                <a:solidFill>
                  <a:srgbClr val="F5F7FA"/>
                </a:solidFill>
                <a:latin typeface="Segoe UI"/>
              </a:rPr>
              <a:t>10.000 eşzamanlı oyuncuda otomatik ölçeklenen maliyet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050" b="1" i="0">
                <a:solidFill>
                  <a:srgbClr val="F5F7FA"/>
                </a:solidFill>
                <a:latin typeface="Segoe UI"/>
              </a:rPr>
              <a:t>Kalıcı gider: </a:t>
            </a:r>
            <a:r>
              <a:rPr sz="1050" b="0" i="0">
                <a:solidFill>
                  <a:srgbClr val="F5F7FA"/>
                </a:solidFill>
                <a:latin typeface="Segoe UI"/>
              </a:rPr>
              <a:t>Steam satışı tek seferlik, sunucu maliyeti süreklidir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783080"/>
            <a:ext cx="5349240" cy="2148840"/>
          </a:xfrm>
          <a:prstGeom prst="rect">
            <a:avLst/>
          </a:prstGeom>
          <a:solidFill>
            <a:srgbClr val="16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783080"/>
            <a:ext cx="5349240" cy="635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947672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F7FA"/>
                </a:solidFill>
                <a:latin typeface="Segoe UI"/>
              </a:rPr>
              <a:t>Steam Platform Maliyetleri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50008"/>
            <a:ext cx="489204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050" b="1" i="0">
                <a:solidFill>
                  <a:srgbClr val="F5F7FA"/>
                </a:solidFill>
                <a:latin typeface="Segoe UI"/>
              </a:rPr>
              <a:t>%30 platform payı: </a:t>
            </a:r>
            <a:r>
              <a:rPr sz="1050" b="0" i="0">
                <a:solidFill>
                  <a:srgbClr val="F5F7FA"/>
                </a:solidFill>
                <a:latin typeface="Segoe UI"/>
              </a:rPr>
              <a:t>ilk $10 Mn'a kadar (çoğu indie için sabit oran)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050" b="1" i="0">
                <a:solidFill>
                  <a:srgbClr val="F5F7FA"/>
                </a:solidFill>
                <a:latin typeface="Segoe UI"/>
              </a:rPr>
              <a:t>$5-15 Bin: </a:t>
            </a:r>
            <a:r>
              <a:rPr sz="1050" b="0" i="0">
                <a:solidFill>
                  <a:srgbClr val="F5F7FA"/>
                </a:solidFill>
                <a:latin typeface="Segoe UI"/>
              </a:rPr>
              <a:t>medyan indie oyunun yaşam boyu brüt geliri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050" b="1" i="0">
                <a:solidFill>
                  <a:srgbClr val="F5F7FA"/>
                </a:solidFill>
                <a:latin typeface="Segoe UI"/>
              </a:rPr>
              <a:t>~%1,5: </a:t>
            </a:r>
            <a:r>
              <a:rPr sz="1050" b="0" i="0">
                <a:solidFill>
                  <a:srgbClr val="F5F7FA"/>
                </a:solidFill>
                <a:latin typeface="Segoe UI"/>
              </a:rPr>
              <a:t>2025'te çıkan ~20 Bin oyunun $1 Mn+ kazanan payı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4160520"/>
            <a:ext cx="5349240" cy="2148840"/>
          </a:xfrm>
          <a:prstGeom prst="rect">
            <a:avLst/>
          </a:prstGeom>
          <a:solidFill>
            <a:srgbClr val="16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4160520"/>
            <a:ext cx="5349240" cy="63500"/>
          </a:xfrm>
          <a:prstGeom prst="rect">
            <a:avLst/>
          </a:prstGeom>
          <a:solidFill>
            <a:srgbClr val="C79A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325112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F7FA"/>
                </a:solidFill>
                <a:latin typeface="Segoe UI"/>
              </a:rPr>
              <a:t>Keşfedilebilirlik ve Soğuk Başlangıç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727448"/>
            <a:ext cx="489204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050" b="1" i="0">
                <a:solidFill>
                  <a:srgbClr val="F5F7FA"/>
                </a:solidFill>
                <a:latin typeface="Segoe UI"/>
              </a:rPr>
              <a:t>Yorumsuz kalma riski: </a:t>
            </a:r>
            <a:r>
              <a:rPr sz="1050" b="0" i="0">
                <a:solidFill>
                  <a:srgbClr val="F5F7FA"/>
                </a:solidFill>
                <a:latin typeface="Segoe UI"/>
              </a:rPr>
              <a:t>2025 çıkışlarının yarısı 10'dan az yorum aldı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050" b="1" i="0">
                <a:solidFill>
                  <a:srgbClr val="F5F7FA"/>
                </a:solidFill>
                <a:latin typeface="Segoe UI"/>
              </a:rPr>
              <a:t>Boş lobi sarmalı: </a:t>
            </a:r>
            <a:r>
              <a:rPr sz="1050" b="0" i="0">
                <a:solidFill>
                  <a:srgbClr val="F5F7FA"/>
                </a:solidFill>
                <a:latin typeface="Segoe UI"/>
              </a:rPr>
              <a:t>lansmanda kritik kütle yoksa erken puanlar çöker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050" b="1" i="0">
                <a:solidFill>
                  <a:srgbClr val="F5F7FA"/>
                </a:solidFill>
                <a:latin typeface="Segoe UI"/>
              </a:rPr>
              <a:t>Kanıtlanmamış talep: </a:t>
            </a:r>
            <a:r>
              <a:rPr sz="1050" b="0" i="0">
                <a:solidFill>
                  <a:srgbClr val="F5F7FA"/>
                </a:solidFill>
                <a:latin typeface="Segoe UI"/>
              </a:rPr>
              <a:t>oyunculuk şu an bot-ağırlıklı (400 bota karşı 1-2 insan)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4160520"/>
            <a:ext cx="5349240" cy="2148840"/>
          </a:xfrm>
          <a:prstGeom prst="rect">
            <a:avLst/>
          </a:prstGeom>
          <a:solidFill>
            <a:srgbClr val="16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4160520"/>
            <a:ext cx="5349240" cy="63500"/>
          </a:xfrm>
          <a:prstGeom prst="rect">
            <a:avLst/>
          </a:prstGeom>
          <a:solidFill>
            <a:srgbClr val="5BC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325112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F7FA"/>
                </a:solidFill>
                <a:latin typeface="Segoe UI"/>
              </a:rPr>
              <a:t>Doğrudan Rekabet Riski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727448"/>
            <a:ext cx="489204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050" b="1" i="0">
                <a:solidFill>
                  <a:srgbClr val="F5F7FA"/>
                </a:solidFill>
                <a:latin typeface="Segoe UI"/>
              </a:rPr>
              <a:t>OpenFront.io: </a:t>
            </a:r>
            <a:r>
              <a:rPr sz="1050" b="0" i="0">
                <a:solidFill>
                  <a:srgbClr val="F5F7FA"/>
                </a:solidFill>
                <a:latin typeface="Segoe UI"/>
              </a:rPr>
              <a:t>Ç3 2026'da Steam'e çıkıyor, 200-250 Bin günlük oyuncuyla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050" b="1" i="0">
                <a:solidFill>
                  <a:srgbClr val="F5F7FA"/>
                </a:solidFill>
                <a:latin typeface="Segoe UI"/>
              </a:rPr>
              <a:t>Risk: GD &amp; Supremacy 1914: </a:t>
            </a:r>
            <a:r>
              <a:rPr sz="1050" b="0" i="0">
                <a:solidFill>
                  <a:srgbClr val="F5F7FA"/>
                </a:solidFill>
                <a:latin typeface="Segoe UI"/>
              </a:rPr>
              <a:t>Steam'de zaten yerleşik oyuncu tabanı var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50" b="1" i="0">
                <a:solidFill>
                  <a:srgbClr val="E8A33D"/>
                </a:solidFill>
                <a:latin typeface="Segoe UI"/>
              </a:rPr>
              <a:t>›  </a:t>
            </a:r>
            <a:r>
              <a:rPr sz="1050" b="1" i="0">
                <a:solidFill>
                  <a:srgbClr val="F5F7FA"/>
                </a:solidFill>
                <a:latin typeface="Segoe UI"/>
              </a:rPr>
              <a:t>Aynı raf, aynı dönem: </a:t>
            </a:r>
            <a:r>
              <a:rPr sz="1050" b="0" i="0">
                <a:solidFill>
                  <a:srgbClr val="F5F7FA"/>
                </a:solidFill>
                <a:latin typeface="Segoe UI"/>
              </a:rPr>
              <a:t>ilham kaynağıyla doğrudan rekabet kaçınılmaz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BC8C0"/>
                </a:solidFill>
                <a:latin typeface="Segoe UI"/>
              </a:rPr>
              <a:t>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5F7FA"/>
                </a:solidFill>
                <a:latin typeface="Segoe UI"/>
              </a:rPr>
              <a:t>Kaynaklar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298448"/>
            <a:ext cx="822960" cy="40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678"/>
                </a:solidFill>
                <a:latin typeface="Segoe UI"/>
              </a:rPr>
              <a:t>CatWars  •  Pazar ve Rakip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6678"/>
                </a:solidFill>
                <a:latin typeface="Segoe UI"/>
              </a:rPr>
              <a:t>18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50"/>
              </a:spcAft>
            </a:pPr>
            <a:r>
              <a:rPr sz="1100" b="1" i="0">
                <a:solidFill>
                  <a:srgbClr val="5BC8C0"/>
                </a:solidFill>
                <a:latin typeface="Segoe UI"/>
              </a:rPr>
              <a:t>›  </a:t>
            </a:r>
            <a:r>
              <a:rPr sz="1100" b="0" i="0">
                <a:solidFill>
                  <a:srgbClr val="F5F7FA"/>
                </a:solidFill>
                <a:latin typeface="Segoe UI"/>
              </a:rPr>
              <a:t>Playwire — OpenFront.io Case Study (playwire.com/case-studies/openfront-io)</a:t>
            </a:r>
          </a:p>
          <a:p>
            <a:pPr>
              <a:lnSpc>
                <a:spcPct val="108000"/>
              </a:lnSpc>
              <a:spcAft>
                <a:spcPts val="750"/>
              </a:spcAft>
            </a:pPr>
            <a:r>
              <a:rPr sz="1100" b="1" i="0">
                <a:solidFill>
                  <a:srgbClr val="5BC8C0"/>
                </a:solidFill>
                <a:latin typeface="Segoe UI"/>
              </a:rPr>
              <a:t>›  </a:t>
            </a:r>
            <a:r>
              <a:rPr sz="1100" b="0" i="0">
                <a:solidFill>
                  <a:srgbClr val="F5F7FA"/>
                </a:solidFill>
                <a:latin typeface="Segoe UI"/>
              </a:rPr>
              <a:t>OFstats.io — OpenFront Game Statistics (ofstats.io)</a:t>
            </a:r>
          </a:p>
          <a:p>
            <a:pPr>
              <a:lnSpc>
                <a:spcPct val="108000"/>
              </a:lnSpc>
              <a:spcAft>
                <a:spcPts val="750"/>
              </a:spcAft>
            </a:pPr>
            <a:r>
              <a:rPr sz="1100" b="1" i="0">
                <a:solidFill>
                  <a:srgbClr val="5BC8C0"/>
                </a:solidFill>
                <a:latin typeface="Segoe UI"/>
              </a:rPr>
              <a:t>›  </a:t>
            </a:r>
            <a:r>
              <a:rPr sz="1100" b="0" i="0">
                <a:solidFill>
                  <a:srgbClr val="F5F7FA"/>
                </a:solidFill>
                <a:latin typeface="Segoe UI"/>
              </a:rPr>
              <a:t>Raijin.gg / SteamDB — OpenFront Steam Stats &amp; Charts</a:t>
            </a:r>
          </a:p>
          <a:p>
            <a:pPr>
              <a:lnSpc>
                <a:spcPct val="108000"/>
              </a:lnSpc>
              <a:spcAft>
                <a:spcPts val="750"/>
              </a:spcAft>
            </a:pPr>
            <a:r>
              <a:rPr sz="1100" b="1" i="0">
                <a:solidFill>
                  <a:srgbClr val="5BC8C0"/>
                </a:solidFill>
                <a:latin typeface="Segoe UI"/>
              </a:rPr>
              <a:t>›  </a:t>
            </a:r>
            <a:r>
              <a:rPr sz="1100" b="0" i="0">
                <a:solidFill>
                  <a:srgbClr val="F5F7FA"/>
                </a:solidFill>
                <a:latin typeface="Segoe UI"/>
              </a:rPr>
              <a:t>Similarweb — territorial.io Traffic Analytics (Kasım 2025)</a:t>
            </a:r>
          </a:p>
          <a:p>
            <a:pPr>
              <a:lnSpc>
                <a:spcPct val="108000"/>
              </a:lnSpc>
              <a:spcAft>
                <a:spcPts val="750"/>
              </a:spcAft>
            </a:pPr>
            <a:r>
              <a:rPr sz="1100" b="1" i="0">
                <a:solidFill>
                  <a:srgbClr val="5BC8C0"/>
                </a:solidFill>
                <a:latin typeface="Segoe UI"/>
              </a:rPr>
              <a:t>›  </a:t>
            </a:r>
            <a:r>
              <a:rPr sz="1100" b="0" i="0">
                <a:solidFill>
                  <a:srgbClr val="F5F7FA"/>
                </a:solidFill>
                <a:latin typeface="Segoe UI"/>
              </a:rPr>
              <a:t>Territorial.io Wiki (Fandom) — Game mechanics</a:t>
            </a:r>
          </a:p>
          <a:p>
            <a:pPr>
              <a:lnSpc>
                <a:spcPct val="108000"/>
              </a:lnSpc>
              <a:spcAft>
                <a:spcPts val="750"/>
              </a:spcAft>
            </a:pPr>
            <a:r>
              <a:rPr sz="1100" b="1" i="0">
                <a:solidFill>
                  <a:srgbClr val="5BC8C0"/>
                </a:solidFill>
                <a:latin typeface="Segoe UI"/>
              </a:rPr>
              <a:t>›  </a:t>
            </a:r>
            <a:r>
              <a:rPr sz="1100" b="0" i="0">
                <a:solidFill>
                  <a:srgbClr val="F5F7FA"/>
                </a:solidFill>
                <a:latin typeface="Segoe UI"/>
              </a:rPr>
              <a:t>Wikipedia — Diep.io; Similarweb — diep.io Traffic Analytics (Mart 2026)</a:t>
            </a:r>
          </a:p>
          <a:p>
            <a:pPr>
              <a:lnSpc>
                <a:spcPct val="108000"/>
              </a:lnSpc>
              <a:spcAft>
                <a:spcPts val="750"/>
              </a:spcAft>
            </a:pPr>
            <a:r>
              <a:rPr sz="1100" b="1" i="0">
                <a:solidFill>
                  <a:srgbClr val="5BC8C0"/>
                </a:solidFill>
                <a:latin typeface="Segoe UI"/>
              </a:rPr>
              <a:t>›  </a:t>
            </a:r>
            <a:r>
              <a:rPr sz="1100" b="0" i="0">
                <a:solidFill>
                  <a:srgbClr val="F5F7FA"/>
                </a:solidFill>
                <a:latin typeface="Segoe UI"/>
              </a:rPr>
              <a:t>Kidscreen — "Hasbro dominates the licensed gaming market" (2024)</a:t>
            </a:r>
          </a:p>
          <a:p>
            <a:pPr>
              <a:lnSpc>
                <a:spcPct val="108000"/>
              </a:lnSpc>
              <a:spcAft>
                <a:spcPts val="750"/>
              </a:spcAft>
            </a:pPr>
            <a:r>
              <a:rPr sz="1100" b="1" i="0">
                <a:solidFill>
                  <a:srgbClr val="5BC8C0"/>
                </a:solidFill>
                <a:latin typeface="Segoe UI"/>
              </a:rPr>
              <a:t>›  </a:t>
            </a:r>
            <a:r>
              <a:rPr sz="1100" b="0" i="0">
                <a:solidFill>
                  <a:srgbClr val="F5F7FA"/>
                </a:solidFill>
                <a:latin typeface="Segoe UI"/>
              </a:rPr>
              <a:t>Steam / SteamCharts / Gamalytic — RISK: Global Domination</a:t>
            </a:r>
          </a:p>
          <a:p>
            <a:pPr>
              <a:lnSpc>
                <a:spcPct val="108000"/>
              </a:lnSpc>
              <a:spcAft>
                <a:spcPts val="750"/>
              </a:spcAft>
            </a:pPr>
            <a:r>
              <a:rPr sz="1100" b="1" i="0">
                <a:solidFill>
                  <a:srgbClr val="5BC8C0"/>
                </a:solidFill>
                <a:latin typeface="Segoe UI"/>
              </a:rPr>
              <a:t>›  </a:t>
            </a:r>
            <a:r>
              <a:rPr sz="1100" b="0" i="0">
                <a:solidFill>
                  <a:srgbClr val="F5F7FA"/>
                </a:solidFill>
                <a:latin typeface="Segoe UI"/>
              </a:rPr>
              <a:t>Pocket Tactics — Supremacy 1914 12. yıl dönümü haberi</a:t>
            </a:r>
          </a:p>
          <a:p>
            <a:pPr>
              <a:lnSpc>
                <a:spcPct val="108000"/>
              </a:lnSpc>
              <a:spcAft>
                <a:spcPts val="750"/>
              </a:spcAft>
            </a:pPr>
            <a:r>
              <a:rPr sz="1100" b="1" i="0">
                <a:solidFill>
                  <a:srgbClr val="5BC8C0"/>
                </a:solidFill>
                <a:latin typeface="Segoe UI"/>
              </a:rPr>
              <a:t>›  </a:t>
            </a:r>
            <a:r>
              <a:rPr sz="1100" b="0" i="0">
                <a:solidFill>
                  <a:srgbClr val="F5F7FA"/>
                </a:solidFill>
                <a:latin typeface="Segoe UI"/>
              </a:rPr>
              <a:t>Udonis Blog — "Rise of Kingdoms: Analyzing How It Became a $2 Billion Game"</a:t>
            </a:r>
          </a:p>
          <a:p>
            <a:pPr>
              <a:lnSpc>
                <a:spcPct val="108000"/>
              </a:lnSpc>
              <a:spcAft>
                <a:spcPts val="750"/>
              </a:spcAft>
            </a:pPr>
            <a:r>
              <a:rPr sz="1100" b="1" i="0">
                <a:solidFill>
                  <a:srgbClr val="5BC8C0"/>
                </a:solidFill>
                <a:latin typeface="Segoe UI"/>
              </a:rPr>
              <a:t>›  </a:t>
            </a:r>
            <a:r>
              <a:rPr sz="1100" b="0" i="0">
                <a:solidFill>
                  <a:srgbClr val="F5F7FA"/>
                </a:solidFill>
                <a:latin typeface="Segoe UI"/>
              </a:rPr>
              <a:t>PocketGamer.biz — "The top grossing mobile games of 2025"</a:t>
            </a:r>
          </a:p>
          <a:p>
            <a:pPr>
              <a:lnSpc>
                <a:spcPct val="108000"/>
              </a:lnSpc>
              <a:spcAft>
                <a:spcPts val="750"/>
              </a:spcAft>
            </a:pPr>
            <a:r>
              <a:rPr sz="1100" b="1" i="0">
                <a:solidFill>
                  <a:srgbClr val="5BC8C0"/>
                </a:solidFill>
                <a:latin typeface="Segoe UI"/>
              </a:rPr>
              <a:t>›  </a:t>
            </a:r>
            <a:r>
              <a:rPr sz="1100" b="0" i="0">
                <a:solidFill>
                  <a:srgbClr val="F5F7FA"/>
                </a:solidFill>
                <a:latin typeface="Segoe UI"/>
              </a:rPr>
              <a:t>NextBigGames / Duamentes — 4X Gaming Genre pazar analizleri (2025)</a:t>
            </a:r>
          </a:p>
          <a:p>
            <a:pPr>
              <a:lnSpc>
                <a:spcPct val="108000"/>
              </a:lnSpc>
              <a:spcAft>
                <a:spcPts val="750"/>
              </a:spcAft>
            </a:pPr>
            <a:r>
              <a:rPr sz="1100" b="1" i="0">
                <a:solidFill>
                  <a:srgbClr val="5BC8C0"/>
                </a:solidFill>
                <a:latin typeface="Segoe UI"/>
              </a:rPr>
              <a:t>›  </a:t>
            </a:r>
            <a:r>
              <a:rPr sz="1100" b="0" i="0">
                <a:solidFill>
                  <a:srgbClr val="F5F7FA"/>
                </a:solidFill>
                <a:latin typeface="Segoe UI"/>
              </a:rPr>
              <a:t>Mordor Intelligence — Global Gaming Market Report</a:t>
            </a:r>
          </a:p>
          <a:p>
            <a:pPr>
              <a:lnSpc>
                <a:spcPct val="108000"/>
              </a:lnSpc>
              <a:spcAft>
                <a:spcPts val="750"/>
              </a:spcAft>
            </a:pPr>
            <a:r>
              <a:rPr sz="1100" b="1" i="0">
                <a:solidFill>
                  <a:srgbClr val="5BC8C0"/>
                </a:solidFill>
                <a:latin typeface="Segoe UI"/>
              </a:rPr>
              <a:t>›  </a:t>
            </a:r>
            <a:r>
              <a:rPr sz="1100" b="0" i="0">
                <a:solidFill>
                  <a:srgbClr val="F5F7FA"/>
                </a:solidFill>
                <a:latin typeface="Segoe UI"/>
              </a:rPr>
              <a:t>Game World Observer / WN Hub — "Indie projects generated a quarter of Steam's revenue in 2025"</a:t>
            </a:r>
          </a:p>
          <a:p>
            <a:pPr>
              <a:lnSpc>
                <a:spcPct val="108000"/>
              </a:lnSpc>
              <a:spcAft>
                <a:spcPts val="750"/>
              </a:spcAft>
            </a:pPr>
            <a:r>
              <a:rPr sz="1100" b="1" i="0">
                <a:solidFill>
                  <a:srgbClr val="5BC8C0"/>
                </a:solidFill>
                <a:latin typeface="Segoe UI"/>
              </a:rPr>
              <a:t>›  </a:t>
            </a:r>
            <a:r>
              <a:rPr sz="1100" b="0" i="0">
                <a:solidFill>
                  <a:srgbClr val="F5F7FA"/>
                </a:solidFill>
                <a:latin typeface="Segoe UI"/>
              </a:rPr>
              <a:t>Steampageanalyzer.com / Ziva — Indie Game Revenue &amp; Sales Statistics 2026</a:t>
            </a:r>
          </a:p>
          <a:p>
            <a:pPr>
              <a:lnSpc>
                <a:spcPct val="108000"/>
              </a:lnSpc>
              <a:spcAft>
                <a:spcPts val="750"/>
              </a:spcAft>
            </a:pPr>
            <a:r>
              <a:rPr sz="1100" b="1" i="0">
                <a:solidFill>
                  <a:srgbClr val="5BC8C0"/>
                </a:solidFill>
                <a:latin typeface="Segoe UI"/>
              </a:rPr>
              <a:t>›  </a:t>
            </a:r>
            <a:r>
              <a:rPr sz="1100" b="0" i="0">
                <a:solidFill>
                  <a:srgbClr val="F5F7FA"/>
                </a:solidFill>
                <a:latin typeface="Segoe UI"/>
              </a:rPr>
              <a:t>Immutable / Fungies.io — Steam Revenue Share &amp; Fees Guide 2026</a:t>
            </a:r>
          </a:p>
          <a:p>
            <a:pPr>
              <a:lnSpc>
                <a:spcPct val="108000"/>
              </a:lnSpc>
              <a:spcAft>
                <a:spcPts val="750"/>
              </a:spcAft>
            </a:pPr>
            <a:r>
              <a:rPr sz="1100" b="1" i="0">
                <a:solidFill>
                  <a:srgbClr val="5BC8C0"/>
                </a:solidFill>
                <a:latin typeface="Segoe UI"/>
              </a:rPr>
              <a:t>›  </a:t>
            </a:r>
            <a:r>
              <a:rPr sz="1100" b="0" i="0">
                <a:solidFill>
                  <a:srgbClr val="F5F7FA"/>
                </a:solidFill>
                <a:latin typeface="Segoe UI"/>
              </a:rPr>
              <a:t>Spendark / Edgegap / AWS GameLift — Game Server Hosting Cost Calculators</a:t>
            </a:r>
          </a:p>
          <a:p>
            <a:pPr>
              <a:lnSpc>
                <a:spcPct val="108000"/>
              </a:lnSpc>
              <a:spcAft>
                <a:spcPts val="750"/>
              </a:spcAft>
            </a:pPr>
            <a:r>
              <a:rPr sz="1100" b="1" i="0">
                <a:solidFill>
                  <a:srgbClr val="5BC8C0"/>
                </a:solidFill>
                <a:latin typeface="Segoe UI"/>
              </a:rPr>
              <a:t>›  </a:t>
            </a:r>
            <a:r>
              <a:rPr sz="1100" b="0" i="0">
                <a:solidFill>
                  <a:srgbClr val="F5F7FA"/>
                </a:solidFill>
                <a:latin typeface="Segoe UI"/>
              </a:rPr>
              <a:t>Steam Community Discussions — Early Access failures &amp; empty-lobby reports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0080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5C6678"/>
                </a:solidFill>
                <a:latin typeface="Segoe UI"/>
              </a:rPr>
              <a:t>Not: Bazı rakamlar (ör. reklam gelirleri, sunucu maliyet aralıkları) kamuya açık tahminlerdir; kesin mali tablolar değildir.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