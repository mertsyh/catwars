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2" r:id="rId5"/>
    <p:sldId id="263" r:id="rId6"/>
    <p:sldId id="264" r:id="rId7"/>
    <p:sldId id="266" r:id="rId8"/>
    <p:sldId id="268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66735" y="1212288"/>
            <a:ext cx="111193" cy="111193"/>
          </a:xfrm>
          <a:prstGeom prst="ellipse">
            <a:avLst/>
          </a:prstGeom>
          <a:solidFill>
            <a:srgbClr val="E9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68122" y="859613"/>
            <a:ext cx="104339" cy="104339"/>
          </a:xfrm>
          <a:prstGeom prst="ellipse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27648" y="808733"/>
            <a:ext cx="87781" cy="87781"/>
          </a:xfrm>
          <a:prstGeom prst="ellipse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8811" y="2913946"/>
            <a:ext cx="128888" cy="128888"/>
          </a:xfrm>
          <a:prstGeom prst="ellipse">
            <a:avLst/>
          </a:prstGeom>
          <a:solidFill>
            <a:srgbClr val="E9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75771" y="4195501"/>
            <a:ext cx="104360" cy="104360"/>
          </a:xfrm>
          <a:prstGeom prst="ellipse">
            <a:avLst/>
          </a:prstGeom>
          <a:solidFill>
            <a:srgbClr val="E9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85732" y="2740847"/>
            <a:ext cx="143915" cy="143915"/>
          </a:xfrm>
          <a:prstGeom prst="ellipse">
            <a:avLst/>
          </a:prstGeom>
          <a:solidFill>
            <a:srgbClr val="E9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03503" y="1102390"/>
            <a:ext cx="87878" cy="87878"/>
          </a:xfrm>
          <a:prstGeom prst="ellipse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37760" y="2192435"/>
            <a:ext cx="127809" cy="127809"/>
          </a:xfrm>
          <a:prstGeom prst="ellipse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78470" y="3826023"/>
            <a:ext cx="64616" cy="64616"/>
          </a:xfrm>
          <a:prstGeom prst="ellipse">
            <a:avLst/>
          </a:prstGeom>
          <a:solidFill>
            <a:srgbClr val="E9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67613" y="664736"/>
            <a:ext cx="51714" cy="51714"/>
          </a:xfrm>
          <a:prstGeom prst="ellipse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61094" y="3580513"/>
            <a:ext cx="123896" cy="123896"/>
          </a:xfrm>
          <a:prstGeom prst="ellipse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19766" y="3092184"/>
            <a:ext cx="75871" cy="75871"/>
          </a:xfrm>
          <a:prstGeom prst="ellipse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76146" y="1792092"/>
            <a:ext cx="103497" cy="103497"/>
          </a:xfrm>
          <a:prstGeom prst="ellipse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55871" y="2410024"/>
            <a:ext cx="90865" cy="90865"/>
          </a:xfrm>
          <a:prstGeom prst="ellipse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807436" y="1008443"/>
            <a:ext cx="87776" cy="87776"/>
          </a:xfrm>
          <a:prstGeom prst="ellipse">
            <a:avLst/>
          </a:prstGeom>
          <a:solidFill>
            <a:srgbClr val="E9D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75328" y="3314653"/>
            <a:ext cx="49663" cy="49663"/>
          </a:xfrm>
          <a:prstGeom prst="ellipse">
            <a:avLst/>
          </a:prstGeom>
          <a:solidFill>
            <a:srgbClr val="E9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76135" y="3744390"/>
            <a:ext cx="125090" cy="125090"/>
          </a:xfrm>
          <a:prstGeom prst="ellipse">
            <a:avLst/>
          </a:prstGeom>
          <a:solidFill>
            <a:srgbClr val="E9D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32274" y="2451701"/>
            <a:ext cx="95677" cy="95677"/>
          </a:xfrm>
          <a:prstGeom prst="ellipse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40498" y="856292"/>
            <a:ext cx="72871" cy="72871"/>
          </a:xfrm>
          <a:prstGeom prst="ellipse">
            <a:avLst/>
          </a:prstGeom>
          <a:solidFill>
            <a:srgbClr val="E9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35963" y="651557"/>
            <a:ext cx="116278" cy="116278"/>
          </a:xfrm>
          <a:prstGeom prst="ellipse">
            <a:avLst/>
          </a:prstGeom>
          <a:solidFill>
            <a:srgbClr val="E9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89125" y="4510198"/>
            <a:ext cx="90544" cy="90544"/>
          </a:xfrm>
          <a:prstGeom prst="ellipse">
            <a:avLst/>
          </a:prstGeom>
          <a:solidFill>
            <a:srgbClr val="E9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16017" y="4431949"/>
            <a:ext cx="47989" cy="47989"/>
          </a:xfrm>
          <a:prstGeom prst="ellipse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94000" y="4072968"/>
            <a:ext cx="95377" cy="95377"/>
          </a:xfrm>
          <a:prstGeom prst="ellipse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954717" y="1078547"/>
            <a:ext cx="70626" cy="70626"/>
          </a:xfrm>
          <a:prstGeom prst="ellipse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552521" y="3361558"/>
            <a:ext cx="62453" cy="62453"/>
          </a:xfrm>
          <a:prstGeom prst="ellipse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74434" y="5767129"/>
            <a:ext cx="128126" cy="128126"/>
          </a:xfrm>
          <a:prstGeom prst="ellipse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1965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5BC8C0"/>
                </a:solidFill>
                <a:latin typeface="Segoe UI"/>
              </a:rPr>
              <a:t>GERÇEK ZAMANLI ÇOK OYUNCULU TOPRAK FETİH STRATEJİSİ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331720"/>
            <a:ext cx="9144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0" b="1" i="0">
                <a:solidFill>
                  <a:srgbClr val="F5F7FA"/>
                </a:solidFill>
                <a:latin typeface="Segoe UI"/>
              </a:rPr>
              <a:t>CatWars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977639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9AA5B8"/>
                </a:solidFill>
                <a:latin typeface="Segoe UI"/>
              </a:rPr>
              <a:t>Oyun Tanımı  •  Benzer Oyunlar  •  Pazar ve Gelir Verileri  •  Steam Konumlandırması  •  Riskler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4663440"/>
            <a:ext cx="82296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" y="5943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5C6678"/>
                </a:solidFill>
                <a:latin typeface="Segoe UI"/>
              </a:rPr>
              <a:t>Pazar Araştırması ve Rekabet Analizi Sunumu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263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C6678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1 · OYUN TANIMI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Segoe UI"/>
              </a:rPr>
              <a:t>CatWars Nedir?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9AA5B8"/>
                </a:solidFill>
                <a:latin typeface="Segoe UI"/>
              </a:rPr>
              <a:t>OpenFront.io / territorial.io ilhamlı, Steam'de PC oyunu olarak yayınlanacak gerçek-zamanlı toprak fetih stratejisi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03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TEMEL TANIM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60350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350" b="1" i="0">
                <a:solidFill>
                  <a:srgbClr val="F5F7FA"/>
                </a:solidFill>
                <a:latin typeface="Segoe UI"/>
              </a:rPr>
              <a:t>Tür: </a:t>
            </a:r>
            <a:r>
              <a:rPr sz="1350" b="0" i="0">
                <a:solidFill>
                  <a:srgbClr val="F5F7FA"/>
                </a:solidFill>
                <a:latin typeface="Segoe UI"/>
              </a:rPr>
              <a:t>Gerçek-zamanlı çok oyunculu strateji / toprak fetih — Steam'de PC oyunu olarak yayınlanacak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350" b="1" i="0">
                <a:solidFill>
                  <a:srgbClr val="F5F7FA"/>
                </a:solidFill>
                <a:latin typeface="Segoe UI"/>
              </a:rPr>
              <a:t>Harita: </a:t>
            </a:r>
            <a:r>
              <a:rPr sz="1350" b="0" i="0">
                <a:solidFill>
                  <a:srgbClr val="F5F7FA"/>
                </a:solidFill>
                <a:latin typeface="Segoe UI"/>
              </a:rPr>
              <a:t>Gerçek dünya kıyı şeritleri (Avrupa, Afrika, Kuzey Amerika, Dünya) + prosedürel "Rastgele Ada"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350" b="1" i="0">
                <a:solidFill>
                  <a:srgbClr val="F5F7FA"/>
                </a:solidFill>
                <a:latin typeface="Segoe UI"/>
              </a:rPr>
              <a:t>Oynanış döngüsü: </a:t>
            </a:r>
            <a:r>
              <a:rPr sz="1350" b="0" i="0">
                <a:solidFill>
                  <a:srgbClr val="F5F7FA"/>
                </a:solidFill>
                <a:latin typeface="Segoe UI"/>
              </a:rPr>
              <a:t>Küçük yuvarlak bir toprakla doğ → komşu toprağa tıklayarak süregelen bir "cephe" aç → büyü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350" b="1" i="0">
                <a:solidFill>
                  <a:srgbClr val="F5F7FA"/>
                </a:solidFill>
                <a:latin typeface="Segoe UI"/>
              </a:rPr>
              <a:t>Ölçek: </a:t>
            </a:r>
            <a:r>
              <a:rPr sz="1350" b="0" i="0">
                <a:solidFill>
                  <a:srgbClr val="F5F7FA"/>
                </a:solidFill>
                <a:latin typeface="Segoe UI"/>
              </a:rPr>
              <a:t>1-2 insan oyuncu + ayarlanabilir bot sayısı (0-400, varsayılan 20)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350" b="1" i="0">
                <a:solidFill>
                  <a:srgbClr val="F5F7FA"/>
                </a:solidFill>
                <a:latin typeface="Segoe UI"/>
              </a:rPr>
              <a:t>Kazanma koşulu: </a:t>
            </a:r>
            <a:r>
              <a:rPr sz="1350" b="0" i="0">
                <a:solidFill>
                  <a:srgbClr val="F5F7FA"/>
                </a:solidFill>
                <a:latin typeface="Segoe UI"/>
              </a:rPr>
              <a:t>Haritanın %72'sini kontrol eden oyuncu kazanır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350" b="1" i="0">
                <a:solidFill>
                  <a:srgbClr val="F5F7FA"/>
                </a:solidFill>
                <a:latin typeface="Segoe UI"/>
              </a:rPr>
              <a:t>Ekonomi: </a:t>
            </a:r>
            <a:r>
              <a:rPr sz="1350" b="0" i="0">
                <a:solidFill>
                  <a:srgbClr val="F5F7FA"/>
                </a:solidFill>
                <a:latin typeface="Segoe UI"/>
              </a:rPr>
              <a:t>Asker (saldırı/savunma) ve Altın (bina inşası) kaynakları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78308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OYUN İÇİ SİSTEMLER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167128"/>
            <a:ext cx="4526280" cy="530352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2167128"/>
            <a:ext cx="38100" cy="530352"/>
          </a:xfrm>
          <a:prstGeom prst="rect">
            <a:avLst/>
          </a:prstGeom>
          <a:solidFill>
            <a:srgbClr val="E9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22219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Segoe UI"/>
              </a:rPr>
              <a:t>Şehir &amp; Karakol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45973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AA5B8"/>
                </a:solidFill>
                <a:latin typeface="Segoe UI"/>
              </a:rPr>
              <a:t>asker kapasitesi + savunma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788920"/>
            <a:ext cx="4526280" cy="530352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40880" y="2788920"/>
            <a:ext cx="38100" cy="530352"/>
          </a:xfrm>
          <a:prstGeom prst="rect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84378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Segoe UI"/>
              </a:rPr>
              <a:t>Liman &amp; Ticaret Gemisi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08152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AA5B8"/>
                </a:solidFill>
                <a:latin typeface="Segoe UI"/>
              </a:rPr>
              <a:t>pasif altın ekonomisi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410712"/>
            <a:ext cx="4526280" cy="530352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3410712"/>
            <a:ext cx="38100" cy="530352"/>
          </a:xfrm>
          <a:prstGeom prst="rect">
            <a:avLst/>
          </a:prstGeom>
          <a:solidFill>
            <a:srgbClr val="E9D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346557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Segoe UI"/>
              </a:rPr>
              <a:t>Savaş Gemisi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703320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AA5B8"/>
                </a:solidFill>
                <a:latin typeface="Segoe UI"/>
              </a:rPr>
              <a:t>deniz savaşı, kuşatma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4032504"/>
            <a:ext cx="4526280" cy="530352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40880" y="4032504"/>
            <a:ext cx="38100" cy="530352"/>
          </a:xfrm>
          <a:prstGeom prst="rect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408736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Segoe UI"/>
              </a:rPr>
              <a:t>Bot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32511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AA5B8"/>
                </a:solidFill>
                <a:latin typeface="Segoe UI"/>
              </a:rPr>
              <a:t>sınır-tabanlı hedefleme, 400'e kadar ölçekli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654296"/>
            <a:ext cx="4526280" cy="530352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40880" y="4654296"/>
            <a:ext cx="38100" cy="530352"/>
          </a:xfrm>
          <a:prstGeom prst="rect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470916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Segoe UI"/>
              </a:rPr>
              <a:t>Karşılıklı cephe vurgusu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946904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AA5B8"/>
                </a:solidFill>
                <a:latin typeface="Segoe UI"/>
              </a:rPr>
              <a:t>"o beni itiyor, ben onu itiyorum"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5276088"/>
            <a:ext cx="4526280" cy="530352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040880" y="5276088"/>
            <a:ext cx="38100" cy="530352"/>
          </a:xfrm>
          <a:prstGeom prst="rect">
            <a:avLst/>
          </a:prstGeom>
          <a:solidFill>
            <a:srgbClr val="E9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0" y="5330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F5F7FA"/>
                </a:solidFill>
                <a:latin typeface="Segoe UI"/>
              </a:rPr>
              <a:t>Kamera &amp; 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56869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AA5B8"/>
                </a:solidFill>
                <a:latin typeface="Segoe UI"/>
              </a:rPr>
              <a:t>pan/zoom, hover, tıklama geri bildirimi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2 · PAZAR BAĞLAMI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Segoe UI"/>
              </a:rPr>
              <a:t>CatWars Hangi Kategoride Yer Alıyor?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9AA5B8"/>
                </a:solidFill>
                <a:latin typeface="Segoe UI"/>
              </a:rPr>
              <a:t>Kategorisi "Steam'de gerçek-zamanlı strateji"dir, ".io" değil — mekanik kökeni tarayıcıdan gelse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05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3429000" cy="4160520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3429000" cy="73152"/>
          </a:xfrm>
          <a:prstGeom prst="rect">
            <a:avLst/>
          </a:prstGeom>
          <a:solidFill>
            <a:srgbClr val="5C6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19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F5F7FA"/>
                </a:solidFill>
                <a:latin typeface="Segoe UI"/>
              </a:rPr>
              <a:t>Tasarım Kökeni: Tarayıcı / .io Oyunları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87751"/>
            <a:ext cx="2743200" cy="274320"/>
          </a:xfrm>
          <a:prstGeom prst="roundRect">
            <a:avLst/>
          </a:prstGeom>
          <a:solidFill>
            <a:srgbClr val="5C6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58775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dirty="0" err="1">
                <a:solidFill>
                  <a:srgbClr val="1B222E"/>
                </a:solidFill>
                <a:latin typeface="Segoe UI"/>
              </a:rPr>
              <a:t>Mekanik</a:t>
            </a:r>
            <a:r>
              <a:rPr sz="1050" b="1" i="0" dirty="0">
                <a:solidFill>
                  <a:srgbClr val="1B222E"/>
                </a:solidFill>
                <a:latin typeface="Segoe UI"/>
              </a:rPr>
              <a:t> </a:t>
            </a:r>
            <a:r>
              <a:rPr sz="1050" b="1" i="0" dirty="0" err="1">
                <a:solidFill>
                  <a:srgbClr val="1B222E"/>
                </a:solidFill>
                <a:latin typeface="Segoe UI"/>
              </a:rPr>
              <a:t>ilham</a:t>
            </a:r>
            <a:r>
              <a:rPr sz="1050" b="1" i="0" dirty="0">
                <a:solidFill>
                  <a:srgbClr val="1B222E"/>
                </a:solidFill>
                <a:latin typeface="Segoe UI"/>
              </a:rPr>
              <a:t> </a:t>
            </a:r>
            <a:r>
              <a:rPr sz="1050" b="1" i="0" dirty="0" err="1">
                <a:solidFill>
                  <a:srgbClr val="1B222E"/>
                </a:solidFill>
                <a:latin typeface="Segoe UI"/>
              </a:rPr>
              <a:t>kaynağı</a:t>
            </a:r>
            <a:r>
              <a:rPr sz="1050" b="1" i="0" dirty="0">
                <a:solidFill>
                  <a:srgbClr val="1B222E"/>
                </a:solidFill>
                <a:latin typeface="Segoe UI"/>
              </a:rPr>
              <a:t> · </a:t>
            </a:r>
            <a:r>
              <a:rPr sz="1050" b="1" i="0" dirty="0" err="1">
                <a:solidFill>
                  <a:srgbClr val="1B222E"/>
                </a:solidFill>
                <a:latin typeface="Segoe UI"/>
              </a:rPr>
              <a:t>Steam'de</a:t>
            </a:r>
            <a:r>
              <a:rPr sz="1050" b="1" i="0" dirty="0">
                <a:solidFill>
                  <a:srgbClr val="1B222E"/>
                </a:solidFill>
                <a:latin typeface="Segoe UI"/>
              </a:rPr>
              <a:t> DEĞİL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39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 i="0" dirty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İndirmesiz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saniyeler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içinde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başlayan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basit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oynanış</a:t>
            </a:r>
            <a:endParaRPr sz="1150" b="0" i="0" dirty="0">
              <a:solidFill>
                <a:srgbClr val="F5F7FA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 i="0" dirty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Süregelen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cephe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/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tıkla-fethet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mekaniği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buradan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geliyor</a:t>
            </a:r>
            <a:endParaRPr sz="1150" b="0" i="0" dirty="0">
              <a:solidFill>
                <a:srgbClr val="F5F7FA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 i="0" dirty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Reklam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tabanlı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kısa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oturumlu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gelir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modeli</a:t>
            </a:r>
            <a:endParaRPr sz="1150" b="0" i="0" dirty="0">
              <a:solidFill>
                <a:srgbClr val="F5F7FA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 i="0" dirty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CatWars'ın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hedef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iş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modeli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/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dağıtım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kanalı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değil</a:t>
            </a:r>
            <a:endParaRPr sz="1150" b="0" i="0" dirty="0">
              <a:solidFill>
                <a:srgbClr val="F5F7FA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39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5C6678"/>
                </a:solidFill>
                <a:latin typeface="Segoe UI"/>
              </a:rPr>
              <a:t>ÖRNEKLER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59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AA5B8"/>
                </a:solidFill>
                <a:latin typeface="Segoe UI"/>
              </a:rPr>
              <a:t>territorial.io, Generals.io — Steam'de yok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874519"/>
            <a:ext cx="3429000" cy="4160520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1874519"/>
            <a:ext cx="342900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103119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F5F7FA"/>
                </a:solidFill>
                <a:latin typeface="Segoe UI"/>
              </a:rPr>
              <a:t>Hedef Kategori: Steam'de Gerçek-Zamanlı Strateji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587751"/>
            <a:ext cx="2743200" cy="27432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258775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dirty="0" err="1">
                <a:solidFill>
                  <a:srgbClr val="1B222E"/>
                </a:solidFill>
                <a:latin typeface="Segoe UI"/>
              </a:rPr>
              <a:t>CatWars'ın</a:t>
            </a:r>
            <a:r>
              <a:rPr sz="1050" b="1" i="0" dirty="0">
                <a:solidFill>
                  <a:srgbClr val="1B222E"/>
                </a:solidFill>
                <a:latin typeface="Segoe UI"/>
              </a:rPr>
              <a:t> </a:t>
            </a:r>
            <a:r>
              <a:rPr sz="1050" b="1" i="0" dirty="0" err="1">
                <a:solidFill>
                  <a:srgbClr val="1B222E"/>
                </a:solidFill>
                <a:latin typeface="Segoe UI"/>
              </a:rPr>
              <a:t>rekabet</a:t>
            </a:r>
            <a:r>
              <a:rPr sz="1050" b="1" i="0" dirty="0">
                <a:solidFill>
                  <a:srgbClr val="1B222E"/>
                </a:solidFill>
                <a:latin typeface="Segoe UI"/>
              </a:rPr>
              <a:t> </a:t>
            </a:r>
            <a:r>
              <a:rPr sz="1050" b="1" i="0" dirty="0" err="1">
                <a:solidFill>
                  <a:srgbClr val="1B222E"/>
                </a:solidFill>
                <a:latin typeface="Segoe UI"/>
              </a:rPr>
              <a:t>edeceği</a:t>
            </a:r>
            <a:r>
              <a:rPr sz="1050" b="1" i="0" dirty="0">
                <a:solidFill>
                  <a:srgbClr val="1B222E"/>
                </a:solidFill>
                <a:latin typeface="Segoe UI"/>
              </a:rPr>
              <a:t> </a:t>
            </a:r>
            <a:r>
              <a:rPr sz="1050" b="1" i="0" dirty="0" err="1">
                <a:solidFill>
                  <a:srgbClr val="1B222E"/>
                </a:solidFill>
                <a:latin typeface="Segoe UI"/>
              </a:rPr>
              <a:t>asıl</a:t>
            </a:r>
            <a:r>
              <a:rPr sz="1050" b="1" i="0" dirty="0">
                <a:solidFill>
                  <a:srgbClr val="1B222E"/>
                </a:solidFill>
                <a:latin typeface="Segoe UI"/>
              </a:rPr>
              <a:t> 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063239"/>
            <a:ext cx="29718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 i="0" dirty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Mağaza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sayfası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kullanıcı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yorumu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wishlist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/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keşfedilebilirlik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dinamikleri</a:t>
            </a:r>
            <a:endParaRPr sz="1150" b="0" i="0" dirty="0">
              <a:solidFill>
                <a:srgbClr val="F5F7FA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 i="0" dirty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Tek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seferlik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satış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/ IAP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tabanlı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gelir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modelleri</a:t>
            </a:r>
            <a:endParaRPr sz="1150" b="0" i="0" dirty="0">
              <a:solidFill>
                <a:srgbClr val="F5F7FA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 i="0" dirty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PC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oyuncu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kitlesi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: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daha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uzun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oturum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daha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yüksek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harcama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isteği</a:t>
            </a:r>
            <a:endParaRPr sz="1150" b="0" i="0" dirty="0">
              <a:solidFill>
                <a:srgbClr val="F5F7FA"/>
              </a:solidFill>
              <a:latin typeface="Segoe UI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 i="0" dirty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Derin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mekanik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(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ittifak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ekonomi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savaş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5F7FA"/>
                </a:solidFill>
                <a:latin typeface="Segoe UI"/>
              </a:rPr>
              <a:t>yönetimi</a:t>
            </a:r>
            <a:r>
              <a:rPr sz="1150" b="0" i="0" dirty="0">
                <a:solidFill>
                  <a:srgbClr val="F5F7FA"/>
                </a:solidFill>
                <a:latin typeface="Segoe UI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20639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E8A33D"/>
                </a:solidFill>
                <a:latin typeface="Segoe UI"/>
              </a:rPr>
              <a:t>ÖRNEKLER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94959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AA5B8"/>
                </a:solidFill>
                <a:latin typeface="Segoe UI"/>
              </a:rPr>
              <a:t>OpenFront.io (Erken Erişim), RISK: Global Domination, Supremacy 1914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1874519"/>
            <a:ext cx="3429000" cy="4160520"/>
          </a:xfrm>
          <a:prstGeom prst="rect">
            <a:avLst/>
          </a:prstGeom>
          <a:solidFill>
            <a:srgbClr val="1D283D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1874519"/>
            <a:ext cx="3429000" cy="73152"/>
          </a:xfrm>
          <a:prstGeom prst="rect">
            <a:avLst/>
          </a:prstGeom>
          <a:solidFill>
            <a:srgbClr val="E9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2103119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F5F7FA"/>
                </a:solidFill>
                <a:latin typeface="Segoe UI"/>
              </a:rPr>
              <a:t>CatWars
Steam'de PC strateji oyunu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59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F5F7FA"/>
                </a:solidFill>
                <a:latin typeface="Segoe UI"/>
              </a:rPr>
              <a:t>Kategori: gerçek-zamanlı strateji / toprak fetih — ".io" değil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F5F7FA"/>
                </a:solidFill>
                <a:latin typeface="Segoe UI"/>
              </a:rPr>
              <a:t>Mekanik derinliği (gerçek dünya haritaları, liman, deniz savaşı) zaten üst segmentte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F5F7FA"/>
                </a:solidFill>
                <a:latin typeface="Segoe UI"/>
              </a:rPr>
              <a:t>Planlanan nükleer/ittifak/takım fazlarıyla Steam'deki doğrudan rakiplere yaklaşıyor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94959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E8A33D"/>
                </a:solidFill>
                <a:latin typeface="Segoe UI"/>
              </a:rPr>
              <a:t>Tarayıcıda doğdu, Steam'de PC strateji oyunu olarak rekabet edecek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3 · RAKIP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 dirty="0">
                <a:solidFill>
                  <a:srgbClr val="F5F7FA"/>
                </a:solidFill>
                <a:latin typeface="Segoe UI"/>
              </a:rPr>
              <a:t>— OpenFront.io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9AA5B8"/>
                </a:solidFill>
                <a:latin typeface="Segoe UI"/>
              </a:rPr>
              <a:t>CatWars'ın tasarım ilham kaynağı ve Steam'de karşılaşacağı en büyük doğrudan rakip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07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3749039" cy="274320"/>
          </a:xfrm>
          <a:prstGeom prst="roundRect">
            <a:avLst/>
          </a:prstGeom>
          <a:solidFill>
            <a:srgbClr val="5B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22E"/>
                </a:solidFill>
                <a:latin typeface="Segoe UI"/>
              </a:rPr>
              <a:t>  TARAYICI + STEAM (Erken Erişim, Ç3 2026)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83080"/>
            <a:ext cx="2651760" cy="27432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22E"/>
                </a:solidFill>
                <a:latin typeface="Segoe UI"/>
              </a:rPr>
              <a:t>  REKLAM + PREMIUM ABONELİK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783080"/>
            <a:ext cx="1463040" cy="274320"/>
          </a:xfrm>
          <a:prstGeom prst="roundRect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1783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22E"/>
                </a:solidFill>
                <a:latin typeface="Segoe UI"/>
              </a:rPr>
              <a:t>  AÇIK KAYNAK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86000"/>
            <a:ext cx="2542032" cy="914400"/>
          </a:xfrm>
          <a:prstGeom prst="rect">
            <a:avLst/>
          </a:prstGeom>
          <a:solidFill>
            <a:srgbClr val="1D283D"/>
          </a:solidFill>
          <a:ln w="9525">
            <a:solidFill>
              <a:srgbClr val="5B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286000"/>
            <a:ext cx="40640" cy="914400"/>
          </a:xfrm>
          <a:prstGeom prst="rect">
            <a:avLst/>
          </a:prstGeom>
          <a:solidFill>
            <a:srgbClr val="5B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395728"/>
            <a:ext cx="22677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900" b="1" i="0">
                <a:solidFill>
                  <a:srgbClr val="F5F7FA"/>
                </a:solidFill>
                <a:latin typeface="Segoe UI"/>
              </a:rPr>
              <a:t>200-250 Bin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9AA5B8"/>
                </a:solidFill>
                <a:latin typeface="Segoe UI"/>
              </a:rPr>
              <a:t>günlük aktif oyuncu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286000"/>
            <a:ext cx="2542032" cy="914400"/>
          </a:xfrm>
          <a:prstGeom prst="rect">
            <a:avLst/>
          </a:prstGeom>
          <a:solidFill>
            <a:srgbClr val="1D283D"/>
          </a:solidFill>
          <a:ln w="9525">
            <a:solidFill>
              <a:srgbClr val="5B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37560" y="2286000"/>
            <a:ext cx="40640" cy="914400"/>
          </a:xfrm>
          <a:prstGeom prst="rect">
            <a:avLst/>
          </a:prstGeom>
          <a:solidFill>
            <a:srgbClr val="5B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02152" y="2395728"/>
            <a:ext cx="22677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900" b="1" i="0">
                <a:solidFill>
                  <a:srgbClr val="F5F7FA"/>
                </a:solidFill>
                <a:latin typeface="Segoe UI"/>
              </a:rPr>
              <a:t>65-70 Mlyr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9AA5B8"/>
                </a:solidFill>
                <a:latin typeface="Segoe UI"/>
              </a:rPr>
              <a:t>aylık reklam gösterimi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64992"/>
            <a:ext cx="2542032" cy="914400"/>
          </a:xfrm>
          <a:prstGeom prst="rect">
            <a:avLst/>
          </a:prstGeom>
          <a:solidFill>
            <a:srgbClr val="1D283D"/>
          </a:solidFill>
          <a:ln w="9525">
            <a:solidFill>
              <a:srgbClr val="5B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364992"/>
            <a:ext cx="40640" cy="914400"/>
          </a:xfrm>
          <a:prstGeom prst="rect">
            <a:avLst/>
          </a:prstGeom>
          <a:solidFill>
            <a:srgbClr val="5B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474720"/>
            <a:ext cx="22677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900" b="1" i="0">
                <a:solidFill>
                  <a:srgbClr val="F5F7FA"/>
                </a:solidFill>
                <a:latin typeface="Segoe UI"/>
              </a:rPr>
              <a:t>%100 artış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9AA5B8"/>
                </a:solidFill>
                <a:latin typeface="Segoe UI"/>
              </a:rPr>
              <a:t>reklam geliri, 2 ay içinde (Playwire ile)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364992"/>
            <a:ext cx="2542032" cy="914400"/>
          </a:xfrm>
          <a:prstGeom prst="rect">
            <a:avLst/>
          </a:prstGeom>
          <a:solidFill>
            <a:srgbClr val="1D283D"/>
          </a:solidFill>
          <a:ln w="9525">
            <a:solidFill>
              <a:srgbClr val="5B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37560" y="3364992"/>
            <a:ext cx="40640" cy="914400"/>
          </a:xfrm>
          <a:prstGeom prst="rect">
            <a:avLst/>
          </a:prstGeom>
          <a:solidFill>
            <a:srgbClr val="5B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02152" y="3474720"/>
            <a:ext cx="22677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900" b="1" i="0">
                <a:solidFill>
                  <a:srgbClr val="F5F7FA"/>
                </a:solidFill>
                <a:latin typeface="Segoe UI"/>
              </a:rPr>
              <a:t>300+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9AA5B8"/>
                </a:solidFill>
                <a:latin typeface="Segoe UI"/>
              </a:rPr>
              <a:t>açık kaynak topluluk katkıcısı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28600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NEDEN ÖNEMLİ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633472"/>
            <a:ext cx="52120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50" b="0" i="0">
                <a:solidFill>
                  <a:srgbClr val="F5F7FA"/>
                </a:solidFill>
                <a:latin typeface="Segoe UI"/>
              </a:rPr>
              <a:t>territorial.io'nun mekaniklerini alıp derinleştirdi: gerçek dünya haritaları, ittifak, nükleer silah, tren sistemi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50" b="0" i="0">
                <a:solidFill>
                  <a:srgbClr val="F5F7FA"/>
                </a:solidFill>
                <a:latin typeface="Segoe UI"/>
              </a:rPr>
              <a:t>Tamamen açık kaynak (GitHub) — CatWars'ın da izlediği yol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50" b="1" i="0">
                <a:solidFill>
                  <a:srgbClr val="F5F7FA"/>
                </a:solidFill>
                <a:latin typeface="Segoe UI"/>
              </a:rPr>
              <a:t>Ç3 2026'da Steam Erken Erişim'e çıkıyor </a:t>
            </a:r>
            <a:r>
              <a:rPr sz="1250" b="0" i="0">
                <a:solidFill>
                  <a:srgbClr val="F5F7FA"/>
                </a:solidFill>
                <a:latin typeface="Segoe UI"/>
              </a:rPr>
              <a:t>(~96,6 Bin istek listesi) — CatWars ile AYNI platformda, muhtemelen aynı dönemde rekabet edecek (bkz. Riskler)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50" b="0" i="0">
                <a:solidFill>
                  <a:srgbClr val="F5F7FA"/>
                </a:solidFill>
                <a:latin typeface="Segoe UI"/>
              </a:rPr>
              <a:t>Kanıt: doğru derinlik + doğru reklam ortaklığıyla bu oynanış 200 Bin+ günlük kullanıcıya ulaşabiliyor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3 · RAKIP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 dirty="0">
                <a:solidFill>
                  <a:srgbClr val="F5F7FA"/>
                </a:solidFill>
                <a:latin typeface="Segoe UI"/>
              </a:rPr>
              <a:t>— territorial.io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9AA5B8"/>
                </a:solidFill>
                <a:latin typeface="Segoe UI"/>
              </a:rPr>
              <a:t>Türün öncüsü ve mekanik esin kaynağı; Steam'e hiç taşınmadı, OpenFront.io tarafından ölçekte geride bırakıldı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08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2743200" cy="274320"/>
          </a:xfrm>
          <a:prstGeom prst="roundRect">
            <a:avLst/>
          </a:prstGeom>
          <a:solidFill>
            <a:srgbClr val="5B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22E"/>
                </a:solidFill>
                <a:latin typeface="Segoe UI"/>
              </a:rPr>
              <a:t>  TARAYICI + MOBİL UYGULAMA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83080"/>
            <a:ext cx="2194560" cy="27432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22E"/>
                </a:solidFill>
                <a:latin typeface="Segoe UI"/>
              </a:rPr>
              <a:t>  SADECE REKLAM (AdMob)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783080"/>
            <a:ext cx="1737360" cy="274320"/>
          </a:xfrm>
          <a:prstGeom prst="roundRect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17830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22E"/>
                </a:solidFill>
                <a:latin typeface="Segoe UI"/>
              </a:rPr>
              <a:t>  PAY-TO-WIN YOK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86000"/>
            <a:ext cx="2542032" cy="914400"/>
          </a:xfrm>
          <a:prstGeom prst="rect">
            <a:avLst/>
          </a:prstGeom>
          <a:solidFill>
            <a:srgbClr val="1D283D"/>
          </a:solidFill>
          <a:ln w="9525">
            <a:solidFill>
              <a:srgbClr val="92E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286000"/>
            <a:ext cx="40640" cy="914400"/>
          </a:xfrm>
          <a:prstGeom prst="rect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395728"/>
            <a:ext cx="22677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800" b="1" i="0">
                <a:solidFill>
                  <a:srgbClr val="F5F7FA"/>
                </a:solidFill>
                <a:latin typeface="Segoe UI"/>
              </a:rPr>
              <a:t>~300-376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9AA5B8"/>
                </a:solidFill>
                <a:latin typeface="Segoe UI"/>
              </a:rPr>
              <a:t>eşzamanlı oyuncu zirvesi (2021 verisi)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286000"/>
            <a:ext cx="2542032" cy="914400"/>
          </a:xfrm>
          <a:prstGeom prst="rect">
            <a:avLst/>
          </a:prstGeom>
          <a:solidFill>
            <a:srgbClr val="1D283D"/>
          </a:solidFill>
          <a:ln w="9525">
            <a:solidFill>
              <a:srgbClr val="92E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37560" y="2286000"/>
            <a:ext cx="40640" cy="914400"/>
          </a:xfrm>
          <a:prstGeom prst="rect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02152" y="2395728"/>
            <a:ext cx="22677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800" b="1" i="0">
                <a:solidFill>
                  <a:srgbClr val="F5F7FA"/>
                </a:solidFill>
                <a:latin typeface="Segoe UI"/>
              </a:rPr>
              <a:t>#~47 Bin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9AA5B8"/>
                </a:solidFill>
                <a:latin typeface="Segoe UI"/>
              </a:rPr>
              <a:t>küresel Similarweb sıralaması (Kas. 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64992"/>
            <a:ext cx="2542032" cy="914400"/>
          </a:xfrm>
          <a:prstGeom prst="rect">
            <a:avLst/>
          </a:prstGeom>
          <a:solidFill>
            <a:srgbClr val="1D283D"/>
          </a:solidFill>
          <a:ln w="9525">
            <a:solidFill>
              <a:srgbClr val="92E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364992"/>
            <a:ext cx="40640" cy="914400"/>
          </a:xfrm>
          <a:prstGeom prst="rect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474720"/>
            <a:ext cx="22677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800" b="1" i="0">
                <a:solidFill>
                  <a:srgbClr val="F5F7FA"/>
                </a:solidFill>
                <a:latin typeface="Segoe UI"/>
              </a:rPr>
              <a:t>Serbest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9AA5B8"/>
                </a:solidFill>
                <a:latin typeface="Segoe UI"/>
              </a:rPr>
              <a:t>lisans, ücretsiz, IAP yok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364992"/>
            <a:ext cx="2542032" cy="914400"/>
          </a:xfrm>
          <a:prstGeom prst="rect">
            <a:avLst/>
          </a:prstGeom>
          <a:solidFill>
            <a:srgbClr val="1D283D"/>
          </a:solidFill>
          <a:ln w="9525">
            <a:solidFill>
              <a:srgbClr val="92E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37560" y="3364992"/>
            <a:ext cx="40640" cy="914400"/>
          </a:xfrm>
          <a:prstGeom prst="rect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02152" y="3474720"/>
            <a:ext cx="22677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800" b="1" i="0">
                <a:solidFill>
                  <a:srgbClr val="F5F7FA"/>
                </a:solidFill>
                <a:latin typeface="Segoe UI"/>
              </a:rPr>
              <a:t>Steam'de yok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9AA5B8"/>
                </a:solidFill>
                <a:latin typeface="Segoe UI"/>
              </a:rPr>
              <a:t>sadece tarayıcı + mobil uygulama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28600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KATEGORİ İÇİN ÇIKARIM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633472"/>
            <a:ext cx="52120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50" b="0" i="0">
                <a:solidFill>
                  <a:srgbClr val="F5F7FA"/>
                </a:solidFill>
                <a:latin typeface="Segoe UI"/>
              </a:rPr>
              <a:t>territorial.io basit mekaniklerde kaldı; OpenFront.io aynı temel fikri gerçek haritalar, ittifaklar ve ekonomiyle genişletip Steam'e taşıdı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50" b="0" i="0">
                <a:solidFill>
                  <a:srgbClr val="F5F7FA"/>
                </a:solidFill>
                <a:latin typeface="Segoe UI"/>
              </a:rPr>
              <a:t>Sonuç: türün "kurucusu" hem ölçekte geride hem de Steam'de yok — derinlik eklemeden büyümek zorlaşıyor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50" b="0" i="0">
                <a:solidFill>
                  <a:srgbClr val="F5F7FA"/>
                </a:solidFill>
                <a:latin typeface="Segoe UI"/>
              </a:rPr>
              <a:t>CatWars için sinyal: sadece territorial.io'yu kopyalamak yetmez, OpenFront çizgisindeki sistemik derinlik (liman, savaş gemisi — zaten var) Steam'de rekabet için gerekli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3 · RAKIP ANALIZI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09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3456432" cy="4206240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3456432" cy="63500"/>
          </a:xfrm>
          <a:prstGeom prst="rect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Segoe UI"/>
              </a:rPr>
              <a:t>Generals.io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95728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9AA5B8"/>
                </a:solidFill>
                <a:latin typeface="Segoe UI"/>
              </a:rPr>
              <a:t>Risk-benzeri, grid tabanlı, keşif+savaş odaklı ücretsiz strateji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7520"/>
            <a:ext cx="2999232" cy="868680"/>
          </a:xfrm>
          <a:prstGeom prst="rect">
            <a:avLst/>
          </a:prstGeom>
          <a:solidFill>
            <a:srgbClr val="1D283D"/>
          </a:solidFill>
          <a:ln w="9525">
            <a:solidFill>
              <a:srgbClr val="9AC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017520"/>
            <a:ext cx="40640" cy="868680"/>
          </a:xfrm>
          <a:prstGeom prst="rect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127248"/>
            <a:ext cx="27249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Ücretsiz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AA5B8"/>
                </a:solidFill>
                <a:latin typeface="Segoe UI"/>
              </a:rPr>
              <a:t>indirmesiz, kayıtsız oynanır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41648"/>
            <a:ext cx="2999232" cy="868680"/>
          </a:xfrm>
          <a:prstGeom prst="rect">
            <a:avLst/>
          </a:prstGeom>
          <a:solidFill>
            <a:srgbClr val="1D283D"/>
          </a:solidFill>
          <a:ln w="9525">
            <a:solidFill>
              <a:srgbClr val="9AC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041648"/>
            <a:ext cx="40640" cy="868680"/>
          </a:xfrm>
          <a:prstGeom prst="rect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151376"/>
            <a:ext cx="27249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Niş topluluk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AA5B8"/>
                </a:solidFill>
                <a:latin typeface="Segoe UI"/>
              </a:rPr>
              <a:t>aktif rekabetçi oyuncu kitlesi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3456432" cy="4206240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06824" y="1828800"/>
            <a:ext cx="3456432" cy="63500"/>
          </a:xfrm>
          <a:prstGeom prst="rect">
            <a:avLst/>
          </a:prstGeom>
          <a:solidFill>
            <a:srgbClr val="E9D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35424" y="2029968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Segoe UI"/>
              </a:rPr>
              <a:t>Diep.io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395728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9AA5B8"/>
                </a:solidFill>
                <a:latin typeface="Segoe UI"/>
              </a:rPr>
              <a:t>Tank/shape-eater .io shooter — türün viral patlamasını başlatan oyunlardan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5424" y="3017520"/>
            <a:ext cx="2999232" cy="868680"/>
          </a:xfrm>
          <a:prstGeom prst="rect">
            <a:avLst/>
          </a:prstGeom>
          <a:solidFill>
            <a:srgbClr val="1D283D"/>
          </a:solidFill>
          <a:ln w="9525">
            <a:solidFill>
              <a:srgbClr val="E9D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35424" y="3017520"/>
            <a:ext cx="40640" cy="868680"/>
          </a:xfrm>
          <a:prstGeom prst="rect">
            <a:avLst/>
          </a:prstGeom>
          <a:solidFill>
            <a:srgbClr val="E9D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127248"/>
            <a:ext cx="27249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10 Mlyr+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AA5B8"/>
                </a:solidFill>
                <a:latin typeface="Segoe UI"/>
              </a:rPr>
              <a:t>mobil indirme (2023 itibarıyla)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5424" y="4041648"/>
            <a:ext cx="2999232" cy="868680"/>
          </a:xfrm>
          <a:prstGeom prst="rect">
            <a:avLst/>
          </a:prstGeom>
          <a:solidFill>
            <a:srgbClr val="1D283D"/>
          </a:solidFill>
          <a:ln w="9525">
            <a:solidFill>
              <a:srgbClr val="E9D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35424" y="4041648"/>
            <a:ext cx="40640" cy="868680"/>
          </a:xfrm>
          <a:prstGeom prst="rect">
            <a:avLst/>
          </a:prstGeom>
          <a:solidFill>
            <a:srgbClr val="E9D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0016" y="4151376"/>
            <a:ext cx="27249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1,6 Mlyr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AA5B8"/>
                </a:solidFill>
                <a:latin typeface="Segoe UI"/>
              </a:rPr>
              <a:t>aylık web ziyareti (2026)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1828800"/>
            <a:ext cx="3456432" cy="4206240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19288" y="1828800"/>
            <a:ext cx="3456432" cy="63500"/>
          </a:xfrm>
          <a:prstGeom prst="rect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2029968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Segoe UI"/>
              </a:rPr>
              <a:t>Paper.io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2395728"/>
            <a:ext cx="299923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9AA5B8"/>
                </a:solidFill>
                <a:latin typeface="Segoe UI"/>
              </a:rPr>
              <a:t>Voodoo tarafından mobile taşınan toprak-boyama .io oyunu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7888" y="3017520"/>
            <a:ext cx="2999232" cy="868680"/>
          </a:xfrm>
          <a:prstGeom prst="rect">
            <a:avLst/>
          </a:prstGeom>
          <a:solidFill>
            <a:srgbClr val="1D283D"/>
          </a:solidFill>
          <a:ln w="9525">
            <a:solidFill>
              <a:srgbClr val="C79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47888" y="3017520"/>
            <a:ext cx="40640" cy="868680"/>
          </a:xfrm>
          <a:prstGeom prst="rect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0" y="3127248"/>
            <a:ext cx="27249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Voodoo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AA5B8"/>
                </a:solidFill>
                <a:latin typeface="Segoe UI"/>
              </a:rPr>
              <a:t>yayıncı — .io oyunlarını mobil reklam gelirine uyarladı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4041648"/>
            <a:ext cx="2999232" cy="868680"/>
          </a:xfrm>
          <a:prstGeom prst="rect">
            <a:avLst/>
          </a:prstGeom>
          <a:solidFill>
            <a:srgbClr val="1D283D"/>
          </a:solidFill>
          <a:ln w="9525">
            <a:solidFill>
              <a:srgbClr val="C79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47888" y="4041648"/>
            <a:ext cx="40640" cy="868680"/>
          </a:xfrm>
          <a:prstGeom prst="rect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4151376"/>
            <a:ext cx="2724912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600" b="1" i="0">
                <a:solidFill>
                  <a:srgbClr val="F5F7FA"/>
                </a:solidFill>
                <a:latin typeface="Segoe UI"/>
              </a:rPr>
              <a:t>En popülerler arasında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AA5B8"/>
                </a:solidFill>
                <a:latin typeface="Segoe UI"/>
              </a:rPr>
              <a:t>kategori içinde referans başarı örneği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3 · RAKIP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Segoe UI"/>
              </a:rPr>
              <a:t>Üst Segment — Supremacy 1914 (Bytro Labs)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9AA5B8"/>
                </a:solidFill>
                <a:latin typeface="Segoe UI"/>
              </a:rPr>
              <a:t>Tarayıcı-tabanlı grand-strategy'nin uzun-vadeli gelir potansiyelini gösteren referans oyun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11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2542032" cy="960120"/>
          </a:xfrm>
          <a:prstGeom prst="rect">
            <a:avLst/>
          </a:prstGeom>
          <a:solidFill>
            <a:srgbClr val="1D283D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40640" cy="9601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2267712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900" b="1" i="0">
                <a:solidFill>
                  <a:srgbClr val="F5F7FA"/>
                </a:solidFill>
                <a:latin typeface="Segoe UI"/>
              </a:rPr>
              <a:t>2009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9AA5B8"/>
                </a:solidFill>
                <a:latin typeface="Segoe UI"/>
              </a:rPr>
              <a:t>yayın yılı — 15+ yıldır aktif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828800"/>
            <a:ext cx="2542032" cy="960120"/>
          </a:xfrm>
          <a:prstGeom prst="rect">
            <a:avLst/>
          </a:prstGeom>
          <a:solidFill>
            <a:srgbClr val="1D283D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40640" cy="9601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938528"/>
            <a:ext cx="2267712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900" b="1" i="0">
                <a:solidFill>
                  <a:srgbClr val="F5F7FA"/>
                </a:solidFill>
                <a:latin typeface="Segoe UI"/>
              </a:rPr>
              <a:t>500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9AA5B8"/>
                </a:solidFill>
                <a:latin typeface="Segoe UI"/>
              </a:rPr>
              <a:t>harita başına maksimum oyuncu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71800"/>
            <a:ext cx="2542032" cy="960120"/>
          </a:xfrm>
          <a:prstGeom prst="rect">
            <a:avLst/>
          </a:prstGeom>
          <a:solidFill>
            <a:srgbClr val="1D283D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971800"/>
            <a:ext cx="40640" cy="9601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081528"/>
            <a:ext cx="2267712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900" b="1" i="0">
                <a:solidFill>
                  <a:srgbClr val="F5F7FA"/>
                </a:solidFill>
                <a:latin typeface="Segoe UI"/>
              </a:rPr>
              <a:t>~€20 Mlyr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9AA5B8"/>
                </a:solidFill>
                <a:latin typeface="Segoe UI"/>
              </a:rPr>
              <a:t>toplam brüt gelir (türünün en büyüğü)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971800"/>
            <a:ext cx="2542032" cy="960120"/>
          </a:xfrm>
          <a:prstGeom prst="rect">
            <a:avLst/>
          </a:prstGeom>
          <a:solidFill>
            <a:srgbClr val="1D283D"/>
          </a:solidFill>
          <a:ln w="952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37560" y="2971800"/>
            <a:ext cx="40640" cy="9601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02152" y="3081528"/>
            <a:ext cx="2267712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900" b="1" i="0">
                <a:solidFill>
                  <a:srgbClr val="F5F7FA"/>
                </a:solidFill>
                <a:latin typeface="Segoe UI"/>
              </a:rPr>
              <a:t>3 platform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b="0" i="0">
                <a:solidFill>
                  <a:srgbClr val="9AA5B8"/>
                </a:solidFill>
                <a:latin typeface="Segoe UI"/>
              </a:rPr>
              <a:t>Tarayıcı + Mobil (2018+) + Steam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SERİ VE ETKİ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76272"/>
            <a:ext cx="52120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Bytro Labs bu modeli Call of War (1942 teması) ve Conflict of Nations: World War III ile genişletti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Kaynak yönetimi + diplomasi + ordu/donanma sistemleri — CatWars'ın planlanan ittifak/diplomasi fazına (Faz 11) doğrudan emsal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Günler/haftalar süren kampanyalar — ".io"nun anlık oturumundan çok farklı bir katılım modeli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2628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KATEGORİ İÇİN ÇIKARIM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64608"/>
            <a:ext cx="52120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Doğru derinlik ve çok-platformlu yayınla tarayıcı-strateji oyunları çok-milyon €'luk, çok-yıllı işlere dönüşebiliyor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4 · KONUMLANDIRMA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Segoe UI"/>
              </a:rPr>
              <a:t>Karşılaştırma Tablosu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9AA5B8"/>
                </a:solidFill>
                <a:latin typeface="Segoe UI"/>
              </a:rPr>
              <a:t>Tüm incelenen oyunlar tek bakışta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13 / 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053622"/>
              </p:ext>
            </p:extLst>
          </p:nvPr>
        </p:nvGraphicFramePr>
        <p:xfrm>
          <a:off x="365760" y="1828800"/>
          <a:ext cx="11475720" cy="3465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22E"/>
                          </a:solidFill>
                          <a:latin typeface="Segoe UI"/>
                        </a:rPr>
                        <a:t>Oyun</a:t>
                      </a:r>
                    </a:p>
                  </a:txBody>
                  <a:tcPr marL="73152" marR="73152" marT="36576" marB="36576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22E"/>
                          </a:solidFill>
                          <a:latin typeface="Segoe UI"/>
                        </a:rPr>
                        <a:t>Platform</a:t>
                      </a:r>
                    </a:p>
                  </a:txBody>
                  <a:tcPr marL="73152" marR="73152" marT="36576" marB="36576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22E"/>
                          </a:solidFill>
                          <a:latin typeface="Segoe UI"/>
                        </a:rPr>
                        <a:t>Steam'de mi?</a:t>
                      </a:r>
                    </a:p>
                  </a:txBody>
                  <a:tcPr marL="73152" marR="73152" marT="36576" marB="36576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22E"/>
                          </a:solidFill>
                          <a:latin typeface="Segoe UI"/>
                        </a:rPr>
                        <a:t>İş Modeli</a:t>
                      </a:r>
                    </a:p>
                  </a:txBody>
                  <a:tcPr marL="73152" marR="73152" marT="36576" marB="36576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22E"/>
                          </a:solidFill>
                          <a:latin typeface="Segoe UI"/>
                        </a:rPr>
                        <a:t>Kullanıcı / Gelir Ölçeği</a:t>
                      </a:r>
                    </a:p>
                  </a:txBody>
                  <a:tcPr marL="73152" marR="73152" marT="36576" marB="36576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22E"/>
                          </a:solidFill>
                          <a:latin typeface="Segoe UI"/>
                        </a:rPr>
                        <a:t>Kategori</a:t>
                      </a:r>
                    </a:p>
                  </a:txBody>
                  <a:tcPr marL="73152" marR="73152" marT="36576" marB="36576" anchor="ctr">
                    <a:solidFill>
                      <a:srgbClr val="E8A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F5F7FA"/>
                          </a:solidFill>
                          <a:latin typeface="Segoe UI"/>
                        </a:rPr>
                        <a:t>OpenFront.io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Tarayıcı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Yakında (Ç3 2026)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Reklam + Premium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200-250 Bin GAU/gün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 err="1">
                          <a:solidFill>
                            <a:srgbClr val="F5F7FA"/>
                          </a:solidFill>
                          <a:latin typeface="Segoe UI"/>
                        </a:rPr>
                        <a:t>Gerçek-Zamanlı</a:t>
                      </a:r>
                      <a:r>
                        <a:rPr sz="1050" dirty="0">
                          <a:solidFill>
                            <a:srgbClr val="F5F7FA"/>
                          </a:solidFill>
                          <a:latin typeface="Segoe UI"/>
                        </a:rPr>
                        <a:t> </a:t>
                      </a:r>
                      <a:r>
                        <a:rPr sz="1050" dirty="0" err="1">
                          <a:solidFill>
                            <a:srgbClr val="F5F7FA"/>
                          </a:solidFill>
                          <a:latin typeface="Segoe UI"/>
                        </a:rPr>
                        <a:t>Strateji</a:t>
                      </a:r>
                      <a:endParaRPr sz="1050" dirty="0">
                        <a:solidFill>
                          <a:srgbClr val="F5F7FA"/>
                        </a:solidFill>
                        <a:latin typeface="Segoe UI"/>
                      </a:endParaRP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territorial.io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Tarayıcı + Mobil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Hayır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Reklam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Küçülüyor (~#47 Bin sıra)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.io Toprak Fetih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Generals.io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Tarayıcı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Hayır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Reklam / Yok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Niş topluluk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.io Strateji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RISK: Global Domination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Steam + Mobil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Evet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F2P + IAP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21,6 Bin Steam yorumu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Klasik Strateji (lisanslı)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Supremacy 1914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Tarayıcı+Mobil+Steam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Evet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F2P + IAP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~€20 Mlyr toplam gelir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Grand Strategy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Rise of Kingdoms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Mobil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Hayır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F2P + IAP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$214 Mn/yıl · $2 Mlyr yaşam boyu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4X Mobil Strateji</a:t>
                      </a:r>
                    </a:p>
                  </a:txBody>
                  <a:tcPr marL="73152" marR="73152" marT="27432" marB="27432" anchor="ctr">
                    <a:solidFill>
                      <a:srgbClr val="161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Evony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Mobil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Hayır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F2P + IAP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Segoe UI"/>
                        </a:rPr>
                        <a:t>$169 Mn/yıl · $1 Mlyr yaşam boyu</a:t>
                      </a: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F5F7FA"/>
                          </a:solidFill>
                          <a:latin typeface="Segoe UI"/>
                        </a:rPr>
                        <a:t>4X Mobil </a:t>
                      </a:r>
                      <a:r>
                        <a:rPr sz="1050" dirty="0" err="1">
                          <a:solidFill>
                            <a:srgbClr val="F5F7FA"/>
                          </a:solidFill>
                          <a:latin typeface="Segoe UI"/>
                        </a:rPr>
                        <a:t>Strateji</a:t>
                      </a:r>
                      <a:endParaRPr sz="1050" dirty="0">
                        <a:solidFill>
                          <a:srgbClr val="F5F7FA"/>
                        </a:solidFill>
                        <a:latin typeface="Segoe UI"/>
                      </a:endParaRPr>
                    </a:p>
                  </a:txBody>
                  <a:tcPr marL="73152" marR="73152" marT="27432" marB="27432" anchor="ctr">
                    <a:solidFill>
                      <a:srgbClr val="1D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5 · SONUÇ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Segoe UI"/>
              </a:rPr>
              <a:t>CatWars İçin Fırsatlar ve Yol Haritası Çıkarımları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15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5349240" cy="1316736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44450" cy="1316736"/>
          </a:xfrm>
          <a:prstGeom prst="rect">
            <a:avLst/>
          </a:prstGeom>
          <a:solidFill>
            <a:srgbClr val="5B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74520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</a:rPr>
              <a:t>Kanıtlanmış talep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85416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A5B8"/>
                </a:solidFill>
                <a:latin typeface="Segoe UI"/>
              </a:rPr>
              <a:t>OpenFront.io'nun 200-250 Bin günlük oyuncuya ulaşması, gerçek-zamanlı toprak fetih konseptinin gerçek bir kitle çektiğini gösteriyor.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349240" cy="1316736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44450" cy="1316736"/>
          </a:xfrm>
          <a:prstGeom prst="rect">
            <a:avLst/>
          </a:prstGeom>
          <a:solidFill>
            <a:srgbClr val="92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874520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</a:rPr>
              <a:t>Durağanlaşan öncü = fırsat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85416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A5B8"/>
                </a:solidFill>
                <a:latin typeface="Segoe UI"/>
              </a:rPr>
              <a:t>territorial.io derinlik eklemeyip küçülürken, CatWars'ın zaten sahip olduğu liman/savaş gemisi gibi sistemler Steam'de fark yaratabilir.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264408"/>
            <a:ext cx="5349240" cy="1316736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64408"/>
            <a:ext cx="44450" cy="13167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35584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</a:rPr>
              <a:t>Derinlik = ölçek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666744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A5B8"/>
                </a:solidFill>
                <a:latin typeface="Segoe UI"/>
              </a:rPr>
              <a:t>Supremacy 1914 (~€20 Mlyr) ve mobil 4X devleri (RoK $214 Mn, Evony $169 Mn) gösteriyor ki ittifak/nükleer/takım gibi sistemler gelir ölçeğini büyütüyor.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64408"/>
            <a:ext cx="5349240" cy="1316736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264408"/>
            <a:ext cx="44450" cy="1316736"/>
          </a:xfrm>
          <a:prstGeom prst="rect">
            <a:avLst/>
          </a:prstGeom>
          <a:solidFill>
            <a:srgbClr val="E9B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35584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</a:rPr>
              <a:t>Steam'de farklı bir monetizasyon fırsatı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666744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A5B8"/>
                </a:solidFill>
                <a:latin typeface="Segoe UI"/>
              </a:rPr>
              <a:t>OpenFront reklam+abonelikle büyüdü; CatWars Steam'de tek seferlik satış/IAP gibi farklı, platforma özgü bir model deneyebilir.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745736"/>
            <a:ext cx="5349240" cy="1316736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4745736"/>
            <a:ext cx="44450" cy="1316736"/>
          </a:xfrm>
          <a:prstGeom prst="rect">
            <a:avLst/>
          </a:prstGeom>
          <a:solidFill>
            <a:srgbClr val="C79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4837176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</a:rPr>
              <a:t>Doğrudan rekabet: hem kanıt hem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148072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A5B8"/>
                </a:solidFill>
                <a:latin typeface="Segoe UI"/>
              </a:rPr>
              <a:t>OpenFront.io, Supremacy 1914 ve RISK:GD'nin Steam'de başarılı olması pazarı kanıtlıyor, ama CatWars'a aynı raflarda doğrudan rakip de çıkarıyor (bkz. Riskler).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745736"/>
            <a:ext cx="5349240" cy="1316736"/>
          </a:xfrm>
          <a:prstGeom prst="rect">
            <a:avLst/>
          </a:prstGeom>
          <a:solidFill>
            <a:srgbClr val="16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745736"/>
            <a:ext cx="44450" cy="1316736"/>
          </a:xfrm>
          <a:prstGeom prst="rect">
            <a:avLst/>
          </a:prstGeom>
          <a:solidFill>
            <a:srgbClr val="9A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4837176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</a:rPr>
              <a:t>Topluluk modeli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148072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A5B8"/>
                </a:solidFill>
                <a:latin typeface="Segoe UI"/>
              </a:rPr>
              <a:t>OpenFront'un 300+ açık kaynak katkıcısı, geliştirme hızını artıran bir topluluk büyütme örneği sunuyor.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BC8C0"/>
                </a:solidFill>
                <a:latin typeface="Segoe UI"/>
              </a:rPr>
              <a:t>BÖLÜM 5 · SONUÇ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Segoe UI"/>
              </a:rPr>
              <a:t>Özet ve Öneriler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98448"/>
            <a:ext cx="82296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C6678"/>
                </a:solidFill>
                <a:latin typeface="Segoe UI"/>
              </a:rPr>
              <a:t>CatWars  •  Pazar ve Rakip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5C6678"/>
                </a:solidFill>
                <a:latin typeface="Segoe UI"/>
              </a:rPr>
              <a:t>16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ÖZET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61264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CatWars, kanıtlanmış talebi olan bir pazarda konumlanıyor: Steam'de gerçek-zamanlı strateji / toprak fetih oyunları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Tasarım ilham kaynağı OpenFront.io günde 200-250 Bin oyuncuya ulaşarak pazarın canlılığını kanıtlıyor — ve Ç3 2026'da CatWars ile aynı platforma (Steam) çıkıyor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Üst segmentte (mobil 4X: Rise of Kingdoms, Evony, Last War) yıllık yüz milyonlarca - milyarlarca dolarlık gelir potansiyeli mevcut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CatWars'ın zaten uyguladığı liman/savaş gemisi sistemleri, planlanan nükleer/ittifak/takım fazlarıyla birleşince bu üst segmente doğru bir köprü oluşturuyor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 i="0">
                <a:solidFill>
                  <a:srgbClr val="E8A33D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F5F7FA"/>
                </a:solidFill>
                <a:latin typeface="Segoe UI"/>
              </a:rPr>
              <a:t>Ancak sunucu maliyetleri, %30 Steam payı ve OpenFront ile doğrudan rekabet gibi somut riskler var (bkz. sonraki slayt)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78308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33D"/>
                </a:solidFill>
                <a:latin typeface="Segoe UI"/>
              </a:rPr>
              <a:t>ÖNERİLEN SONRAKİ ADIMLAR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2148840"/>
            <a:ext cx="4480560" cy="566928"/>
          </a:xfrm>
          <a:prstGeom prst="rect">
            <a:avLst/>
          </a:prstGeom>
          <a:solidFill>
            <a:srgbClr val="1D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86600" y="2148840"/>
            <a:ext cx="38100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0" y="2148840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E8A33D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Segoe UI"/>
              </a:rPr>
              <a:t>Prodüksiyon-grade sunucu altyapısı kur (Faz 14)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825496"/>
            <a:ext cx="4480560" cy="566928"/>
          </a:xfrm>
          <a:prstGeom prst="rect">
            <a:avLst/>
          </a:prstGeom>
          <a:solidFill>
            <a:srgbClr val="1D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86600" y="2825496"/>
            <a:ext cx="38100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2825496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E8A33D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2549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Segoe UI"/>
              </a:rPr>
              <a:t>Steam mağaza sayfası + wishlist kampanyası başlat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3502152"/>
            <a:ext cx="4480560" cy="566928"/>
          </a:xfrm>
          <a:prstGeom prst="rect">
            <a:avLst/>
          </a:prstGeom>
          <a:solidFill>
            <a:srgbClr val="1D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86600" y="3502152"/>
            <a:ext cx="38100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0" y="3502152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E8A33D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502152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Segoe UI"/>
              </a:rPr>
              <a:t>Satış fiyatı / IAP monetizasyon modelini netleştir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4178808"/>
            <a:ext cx="4480560" cy="566928"/>
          </a:xfrm>
          <a:prstGeom prst="rect">
            <a:avLst/>
          </a:prstGeom>
          <a:solidFill>
            <a:srgbClr val="1D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6600" y="4178808"/>
            <a:ext cx="38100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0" y="4178808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E8A33D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17880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Segoe UI"/>
              </a:rPr>
              <a:t>Topluluk büyütme (açık kaynak katkıcı modeli)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855464"/>
            <a:ext cx="4480560" cy="566928"/>
          </a:xfrm>
          <a:prstGeom prst="rect">
            <a:avLst/>
          </a:prstGeom>
          <a:solidFill>
            <a:srgbClr val="1D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86600" y="4855464"/>
            <a:ext cx="38100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0" y="4855464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E8A33D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55464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Segoe UI"/>
              </a:rPr>
              <a:t>İttifak ve nükleer fazlarına öncelik 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1539</Words>
  <Application>Microsoft Office PowerPoint</Application>
  <PresentationFormat>Geniş ekran</PresentationFormat>
  <Paragraphs>227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mert seyhan</cp:lastModifiedBy>
  <cp:revision>2</cp:revision>
  <dcterms:created xsi:type="dcterms:W3CDTF">2013-01-27T09:14:16Z</dcterms:created>
  <dcterms:modified xsi:type="dcterms:W3CDTF">2026-07-30T22:59:10Z</dcterms:modified>
  <cp:category/>
</cp:coreProperties>
</file>